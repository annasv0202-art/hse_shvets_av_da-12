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1.xml" ContentType="application/vnd.openxmlformats-officedocument.themeOverride+xml"/>
  <Override PartName="/ppt/notesSlides/notesSlide13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3.xml" ContentType="application/vnd.openxmlformats-officedocument.themeOverr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4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5.xml" ContentType="application/vnd.openxmlformats-officedocument.themeOverride+xml"/>
  <Override PartName="/ppt/notesSlides/notesSlide16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7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16.xml" ContentType="application/vnd.openxmlformats-officedocument.themeOverr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17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18.xml" ContentType="application/vnd.openxmlformats-officedocument.themeOverr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7"/>
  </p:notesMasterIdLst>
  <p:sldIdLst>
    <p:sldId id="256" r:id="rId3"/>
    <p:sldId id="257" r:id="rId4"/>
    <p:sldId id="261" r:id="rId5"/>
    <p:sldId id="263" r:id="rId6"/>
    <p:sldId id="264" r:id="rId7"/>
    <p:sldId id="274" r:id="rId8"/>
    <p:sldId id="258" r:id="rId9"/>
    <p:sldId id="276" r:id="rId10"/>
    <p:sldId id="277" r:id="rId11"/>
    <p:sldId id="272" r:id="rId12"/>
    <p:sldId id="278" r:id="rId13"/>
    <p:sldId id="283" r:id="rId14"/>
    <p:sldId id="281" r:id="rId15"/>
    <p:sldId id="280" r:id="rId16"/>
    <p:sldId id="282" r:id="rId17"/>
    <p:sldId id="285" r:id="rId18"/>
    <p:sldId id="284" r:id="rId19"/>
    <p:sldId id="259" r:id="rId20"/>
    <p:sldId id="271" r:id="rId21"/>
    <p:sldId id="286" r:id="rId22"/>
    <p:sldId id="268" r:id="rId23"/>
    <p:sldId id="287" r:id="rId24"/>
    <p:sldId id="266" r:id="rId25"/>
    <p:sldId id="288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3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C69"/>
    <a:srgbClr val="E59EDD"/>
    <a:srgbClr val="DFC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209CB4-4E10-4CC7-B646-66E69C80916C}">
  <a:tblStyle styleId="{49209CB4-4E10-4CC7-B646-66E69C8091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31" d="100"/>
          <a:sy n="131" d="100"/>
        </p:scale>
        <p:origin x="144" y="288"/>
      </p:cViewPr>
      <p:guideLst>
        <p:guide orient="horz" pos="1620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3420037863300618"/>
          <c:y val="0.1075277359478624"/>
          <c:w val="0.36320079153572338"/>
          <c:h val="0.871473517836759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Инфраструктура, администрирование</c:v>
                </c:pt>
                <c:pt idx="1">
                  <c:v>Разработка ПО</c:v>
                </c:pt>
                <c:pt idx="2">
                  <c:v>Аналитика и хранение данных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947</c:v>
                </c:pt>
                <c:pt idx="1">
                  <c:v>673</c:v>
                </c:pt>
                <c:pt idx="2">
                  <c:v>381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5B-4FC6-A663-D2DFB3CB84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3420037863300618"/>
          <c:y val="0.1075277359478624"/>
          <c:w val="0.36320079153572338"/>
          <c:h val="0.871473517836759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Сисадмин</c:v>
                </c:pt>
                <c:pt idx="1">
                  <c:v>Специалист ИБ</c:v>
                </c:pt>
                <c:pt idx="2">
                  <c:v>Специалист техпод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406</c:v>
                </c:pt>
                <c:pt idx="1">
                  <c:v>277</c:v>
                </c:pt>
                <c:pt idx="2">
                  <c:v>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26-4EA1-89BB-A957D19E59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3420037863300618"/>
          <c:y val="0.1075277359478624"/>
          <c:w val="0.36320079153572338"/>
          <c:h val="0.871473517836759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ИТ-сектор</c:v>
                </c:pt>
                <c:pt idx="1">
                  <c:v>Госорганы</c:v>
                </c:pt>
                <c:pt idx="2">
                  <c:v>Финтех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978</c:v>
                </c:pt>
                <c:pt idx="1">
                  <c:v>264</c:v>
                </c:pt>
                <c:pt idx="2">
                  <c:v>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60-4848-A883-29F52639F1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3420037863300618"/>
          <c:y val="0.1075277359478624"/>
          <c:w val="0.36320079153572338"/>
          <c:h val="0.871473517836759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INTERN</c:v>
                </c:pt>
                <c:pt idx="1">
                  <c:v>JUNIOR</c:v>
                </c:pt>
                <c:pt idx="2">
                  <c:v>MIDDLE</c:v>
                </c:pt>
                <c:pt idx="3">
                  <c:v>SENIOR</c:v>
                </c:pt>
                <c:pt idx="4">
                  <c:v>LEAD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31</c:v>
                </c:pt>
                <c:pt idx="1">
                  <c:v>1093</c:v>
                </c:pt>
                <c:pt idx="2">
                  <c:v>982</c:v>
                </c:pt>
                <c:pt idx="3">
                  <c:v>257</c:v>
                </c:pt>
                <c:pt idx="4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FA-4CC8-AF7C-923CFEE881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3420037863300618"/>
          <c:y val="0.1075277359478624"/>
          <c:w val="0.36320079153572338"/>
          <c:h val="0.871473517836759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MICRO</c:v>
                </c:pt>
                <c:pt idx="1">
                  <c:v>SMALL</c:v>
                </c:pt>
                <c:pt idx="2">
                  <c:v>MEDIUM</c:v>
                </c:pt>
                <c:pt idx="3">
                  <c:v>BIG</c:v>
                </c:pt>
                <c:pt idx="4">
                  <c:v>LARGE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176</c:v>
                </c:pt>
                <c:pt idx="1">
                  <c:v>1266</c:v>
                </c:pt>
                <c:pt idx="2">
                  <c:v>205</c:v>
                </c:pt>
                <c:pt idx="3">
                  <c:v>149</c:v>
                </c:pt>
                <c:pt idx="4">
                  <c:v>751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AF-48A5-9EC8-09FFC1EA57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3420037863300618"/>
          <c:y val="0.1075277359478624"/>
          <c:w val="0.36320079153572338"/>
          <c:h val="0.871473517836759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Москва </c:v>
                </c:pt>
                <c:pt idx="1">
                  <c:v>Приволжский</c:v>
                </c:pt>
                <c:pt idx="2">
                  <c:v>Центральный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720</c:v>
                </c:pt>
                <c:pt idx="1">
                  <c:v>427</c:v>
                </c:pt>
                <c:pt idx="2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BB-420A-AD86-CB8D99888A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3420037863300618"/>
          <c:y val="0.1075277359478624"/>
          <c:w val="0.36320079153572338"/>
          <c:h val="0.871473517836759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Лист1!$A$2:$A$6</c:f>
              <c:strCache>
                <c:ptCount val="5"/>
                <c:pt idx="0">
                  <c:v>Москва</c:v>
                </c:pt>
                <c:pt idx="1">
                  <c:v>СПБ</c:v>
                </c:pt>
                <c:pt idx="2">
                  <c:v>Свердловская обл.</c:v>
                </c:pt>
                <c:pt idx="3">
                  <c:v>Самарская обл.</c:v>
                </c:pt>
                <c:pt idx="4">
                  <c:v>Новосибирская обл.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720</c:v>
                </c:pt>
                <c:pt idx="1">
                  <c:v>210</c:v>
                </c:pt>
                <c:pt idx="2">
                  <c:v>108</c:v>
                </c:pt>
                <c:pt idx="3">
                  <c:v>80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5F-469F-B49B-02C46C51AC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3420037863300618"/>
          <c:y val="0.1075277359478624"/>
          <c:w val="0.36320079153572338"/>
          <c:h val="0.871473517836759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Среднее общее</c:v>
                </c:pt>
                <c:pt idx="1">
                  <c:v>Среднее проф.</c:v>
                </c:pt>
                <c:pt idx="2">
                  <c:v>Высшее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57</c:v>
                </c:pt>
                <c:pt idx="1">
                  <c:v>362</c:v>
                </c:pt>
                <c:pt idx="2">
                  <c:v>1352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96-47F6-BFF2-3906FEB476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3420037863300618"/>
          <c:y val="0.1075277359478624"/>
          <c:w val="0.36320079153572338"/>
          <c:h val="0.8714735178367590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05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Бакалавриат</c:v>
                </c:pt>
                <c:pt idx="1">
                  <c:v>Магистратура (или специалитет)</c:v>
                </c:pt>
                <c:pt idx="2">
                  <c:v>Аспирантура, докторантура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729</c:v>
                </c:pt>
                <c:pt idx="1">
                  <c:v>396</c:v>
                </c:pt>
                <c:pt idx="2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B3-4A4A-9DAD-304169BF33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258598125623998E-4"/>
          <c:y val="0.17007100971362016"/>
          <c:w val="0.9826986795015723"/>
          <c:h val="0.740584782476756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Москва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185.3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06-4E8B-AB3F-183898AE68F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Другие регионы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06-4E8B-AB3F-183898AE68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6286048"/>
        <c:axId val="286271904"/>
      </c:barChart>
      <c:catAx>
        <c:axId val="2862860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86271904"/>
        <c:crosses val="autoZero"/>
        <c:auto val="1"/>
        <c:lblAlgn val="ctr"/>
        <c:lblOffset val="100"/>
        <c:noMultiLvlLbl val="0"/>
      </c:catAx>
      <c:valAx>
        <c:axId val="2862719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628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9939687100772958"/>
          <c:y val="5.4847485923972213E-2"/>
          <c:w val="0.47393239344784316"/>
          <c:h val="0.916713709858447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Лист1!$A$2:$A$10</c:f>
              <c:strCache>
                <c:ptCount val="9"/>
                <c:pt idx="0">
                  <c:v>Москва </c:v>
                </c:pt>
                <c:pt idx="1">
                  <c:v>СПБ</c:v>
                </c:pt>
                <c:pt idx="2">
                  <c:v>ДВФО</c:v>
                </c:pt>
                <c:pt idx="3">
                  <c:v>УРФО</c:v>
                </c:pt>
                <c:pt idx="4">
                  <c:v>СЗФО</c:v>
                </c:pt>
                <c:pt idx="5">
                  <c:v>СФО</c:v>
                </c:pt>
                <c:pt idx="6">
                  <c:v>ЦФО</c:v>
                </c:pt>
                <c:pt idx="7">
                  <c:v>ПФО</c:v>
                </c:pt>
                <c:pt idx="8">
                  <c:v>ЮФО + СКФО</c:v>
                </c:pt>
              </c:strCache>
            </c:strRef>
          </c:cat>
          <c:val>
            <c:numRef>
              <c:f>Лист1!$B$2:$B$10</c:f>
              <c:numCache>
                <c:formatCode>General</c:formatCode>
                <c:ptCount val="9"/>
                <c:pt idx="0">
                  <c:v>185.3</c:v>
                </c:pt>
                <c:pt idx="1">
                  <c:v>100</c:v>
                </c:pt>
                <c:pt idx="2">
                  <c:v>79.099999999999994</c:v>
                </c:pt>
                <c:pt idx="3">
                  <c:v>67.5</c:v>
                </c:pt>
                <c:pt idx="4">
                  <c:v>64.3</c:v>
                </c:pt>
                <c:pt idx="5">
                  <c:v>60.3</c:v>
                </c:pt>
                <c:pt idx="6">
                  <c:v>60</c:v>
                </c:pt>
                <c:pt idx="7">
                  <c:v>59.6</c:v>
                </c:pt>
                <c:pt idx="8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1-4C92-AB90-0A66739C3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3617447145656982"/>
          <c:y val="5.4847485923972213E-2"/>
          <c:w val="0.34750867881876801"/>
          <c:h val="0.916713709858447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20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Лист1!$A$2:$A$9</c:f>
              <c:strCache>
                <c:ptCount val="8"/>
                <c:pt idx="0">
                  <c:v>Москва </c:v>
                </c:pt>
                <c:pt idx="1">
                  <c:v>Приморский край</c:v>
                </c:pt>
                <c:pt idx="2">
                  <c:v>СПБ</c:v>
                </c:pt>
                <c:pt idx="3">
                  <c:v>Татарстан</c:v>
                </c:pt>
                <c:pt idx="4">
                  <c:v>Московская обл.</c:v>
                </c:pt>
                <c:pt idx="5">
                  <c:v>Новосибирская обл.</c:v>
                </c:pt>
                <c:pt idx="6">
                  <c:v>Нижегородская обл.</c:v>
                </c:pt>
                <c:pt idx="7">
                  <c:v>Иркутская обл.</c:v>
                </c:pt>
              </c:strCache>
            </c:strRef>
          </c:cat>
          <c:val>
            <c:numRef>
              <c:f>Лист1!$B$2:$B$9</c:f>
              <c:numCache>
                <c:formatCode>General</c:formatCode>
                <c:ptCount val="8"/>
                <c:pt idx="0">
                  <c:v>185.3</c:v>
                </c:pt>
                <c:pt idx="1">
                  <c:v>100</c:v>
                </c:pt>
                <c:pt idx="2">
                  <c:v>100</c:v>
                </c:pt>
                <c:pt idx="3">
                  <c:v>90</c:v>
                </c:pt>
                <c:pt idx="4">
                  <c:v>90</c:v>
                </c:pt>
                <c:pt idx="5">
                  <c:v>77</c:v>
                </c:pt>
                <c:pt idx="6">
                  <c:v>74.2</c:v>
                </c:pt>
                <c:pt idx="7">
                  <c:v>72.7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44-4B34-919C-FDF3763FA5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7460376155220968"/>
          <c:y val="5.4847485923972213E-2"/>
          <c:w val="0.47006969509401209"/>
          <c:h val="0.916713709858447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Продукт и бизнес</c:v>
                </c:pt>
                <c:pt idx="1">
                  <c:v>ИТ-архитектура</c:v>
                </c:pt>
                <c:pt idx="2">
                  <c:v>Аналитика и хранение данных</c:v>
                </c:pt>
                <c:pt idx="3">
                  <c:v>QA и тестирование</c:v>
                </c:pt>
                <c:pt idx="4">
                  <c:v>Разработка ПО</c:v>
                </c:pt>
                <c:pt idx="5">
                  <c:v>ИнформБез</c:v>
                </c:pt>
                <c:pt idx="6">
                  <c:v>Инфраструктура и администрирование</c:v>
                </c:pt>
              </c:strCache>
            </c:strRef>
          </c:cat>
          <c:val>
            <c:numRef>
              <c:f>Лист1!$B$2:$B$8</c:f>
              <c:numCache>
                <c:formatCode>General</c:formatCode>
                <c:ptCount val="7"/>
                <c:pt idx="0">
                  <c:v>293.3</c:v>
                </c:pt>
                <c:pt idx="1">
                  <c:v>265</c:v>
                </c:pt>
                <c:pt idx="2">
                  <c:v>169.5</c:v>
                </c:pt>
                <c:pt idx="3">
                  <c:v>132.5</c:v>
                </c:pt>
                <c:pt idx="4">
                  <c:v>100</c:v>
                </c:pt>
                <c:pt idx="5">
                  <c:v>71.5</c:v>
                </c:pt>
                <c:pt idx="6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58-4A6C-A4DD-231E664D65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8749100607953408"/>
          <c:y val="5.4847485923972213E-2"/>
          <c:w val="0.29619199188445605"/>
          <c:h val="0.916713709858447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20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Лист1!$A$2:$A$11</c:f>
              <c:strCache>
                <c:ptCount val="10"/>
                <c:pt idx="0">
                  <c:v>Golang разработчик</c:v>
                </c:pt>
                <c:pt idx="1">
                  <c:v>Продакт-менеджер</c:v>
                </c:pt>
                <c:pt idx="2">
                  <c:v>ML-инженер</c:v>
                </c:pt>
                <c:pt idx="3">
                  <c:v>Архитектор ПО</c:v>
                </c:pt>
                <c:pt idx="4">
                  <c:v>Инженер данных</c:v>
                </c:pt>
                <c:pt idx="5">
                  <c:v>DevOps-инженер</c:v>
                </c:pt>
                <c:pt idx="6">
                  <c:v>Тестировщик-автоматизатор</c:v>
                </c:pt>
                <c:pt idx="7">
                  <c:v>Java разработчик</c:v>
                </c:pt>
                <c:pt idx="8">
                  <c:v>Системный аналитик</c:v>
                </c:pt>
                <c:pt idx="9">
                  <c:v>Мобильный разработчик</c:v>
                </c:pt>
              </c:strCache>
            </c:strRef>
          </c:cat>
          <c:val>
            <c:numRef>
              <c:f>Лист1!$B$2:$B$11</c:f>
              <c:numCache>
                <c:formatCode>General</c:formatCode>
                <c:ptCount val="10"/>
                <c:pt idx="0">
                  <c:v>325.5</c:v>
                </c:pt>
                <c:pt idx="1">
                  <c:v>300</c:v>
                </c:pt>
                <c:pt idx="2">
                  <c:v>274</c:v>
                </c:pt>
                <c:pt idx="3">
                  <c:v>250</c:v>
                </c:pt>
                <c:pt idx="4">
                  <c:v>240</c:v>
                </c:pt>
                <c:pt idx="5">
                  <c:v>216</c:v>
                </c:pt>
                <c:pt idx="6">
                  <c:v>210</c:v>
                </c:pt>
                <c:pt idx="7">
                  <c:v>204.1</c:v>
                </c:pt>
                <c:pt idx="8">
                  <c:v>178.3</c:v>
                </c:pt>
                <c:pt idx="9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36-433D-81AF-7EF7C731A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7460376155220968"/>
          <c:y val="5.4847485923972213E-2"/>
          <c:w val="0.47006969509401209"/>
          <c:h val="0.916713709858447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МТС</c:v>
                </c:pt>
                <c:pt idx="1">
                  <c:v>Bell Integrator</c:v>
                </c:pt>
                <c:pt idx="2">
                  <c:v>Cloud.ru</c:v>
                </c:pt>
                <c:pt idx="3">
                  <c:v>СБЕР</c:v>
                </c:pt>
                <c:pt idx="4">
                  <c:v>Солар</c:v>
                </c:pt>
                <c:pt idx="5">
                  <c:v>ИТ-компания "Лоция"</c:v>
                </c:pt>
                <c:pt idx="6">
                  <c:v>ИТ-холдинг Т1</c:v>
                </c:pt>
              </c:strCache>
            </c:strRef>
          </c:cat>
          <c:val>
            <c:numRef>
              <c:f>Лист1!$B$2:$B$8</c:f>
              <c:numCache>
                <c:formatCode>General</c:formatCode>
                <c:ptCount val="7"/>
                <c:pt idx="0">
                  <c:v>255.3</c:v>
                </c:pt>
                <c:pt idx="1">
                  <c:v>250</c:v>
                </c:pt>
                <c:pt idx="2">
                  <c:v>228.5</c:v>
                </c:pt>
                <c:pt idx="3">
                  <c:v>200</c:v>
                </c:pt>
                <c:pt idx="4">
                  <c:v>199</c:v>
                </c:pt>
                <c:pt idx="5">
                  <c:v>186.5</c:v>
                </c:pt>
                <c:pt idx="6">
                  <c:v>169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58-4A6C-A4DD-231E664D65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1365691107838587"/>
          <c:y val="5.4847485923972213E-2"/>
          <c:w val="0.51092830398122147"/>
          <c:h val="0.916713709858447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20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Лист1!$A$2:$A$11</c:f>
              <c:strCache>
                <c:ptCount val="10"/>
                <c:pt idx="0">
                  <c:v>Финансы</c:v>
                </c:pt>
                <c:pt idx="1">
                  <c:v>Энергетика</c:v>
                </c:pt>
                <c:pt idx="2">
                  <c:v>Стройтельство</c:v>
                </c:pt>
                <c:pt idx="3">
                  <c:v>ИТ</c:v>
                </c:pt>
                <c:pt idx="4">
                  <c:v>B2B-услуги</c:v>
                </c:pt>
                <c:pt idx="5">
                  <c:v>Связь и телеком</c:v>
                </c:pt>
                <c:pt idx="6">
                  <c:v>Тяжмашиностроение</c:v>
                </c:pt>
                <c:pt idx="7">
                  <c:v>Электроника и приборостроение</c:v>
                </c:pt>
                <c:pt idx="8">
                  <c:v>Автом.бизнес</c:v>
                </c:pt>
                <c:pt idx="9">
                  <c:v>Маркетинг и СМИ</c:v>
                </c:pt>
              </c:strCache>
            </c:strRef>
          </c:cat>
          <c:val>
            <c:numRef>
              <c:f>Лист1!$B$2:$B$11</c:f>
              <c:numCache>
                <c:formatCode>General</c:formatCode>
                <c:ptCount val="10"/>
                <c:pt idx="0">
                  <c:v>150</c:v>
                </c:pt>
                <c:pt idx="1">
                  <c:v>130</c:v>
                </c:pt>
                <c:pt idx="2">
                  <c:v>127</c:v>
                </c:pt>
                <c:pt idx="3">
                  <c:v>105</c:v>
                </c:pt>
                <c:pt idx="4">
                  <c:v>103.5</c:v>
                </c:pt>
                <c:pt idx="5">
                  <c:v>100</c:v>
                </c:pt>
                <c:pt idx="6">
                  <c:v>94.6</c:v>
                </c:pt>
                <c:pt idx="7">
                  <c:v>90</c:v>
                </c:pt>
                <c:pt idx="8">
                  <c:v>83.5</c:v>
                </c:pt>
                <c:pt idx="9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36-433D-81AF-7EF7C731A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258598125623998E-4"/>
          <c:y val="0.17007100971362016"/>
          <c:w val="0.9826986795015723"/>
          <c:h val="0.7405847824767564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ИИ упоминается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B2C69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06-4E8B-AB3F-183898AE68F1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Другие регионы</c:v>
                </c:pt>
              </c:strCache>
            </c:strRef>
          </c:tx>
          <c:spPr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rgbClr val="0B2C69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</c:f>
              <c:strCache>
                <c:ptCount val="1"/>
                <c:pt idx="0">
                  <c:v>Категория 1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06-4E8B-AB3F-183898AE68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6286048"/>
        <c:axId val="286271904"/>
      </c:barChart>
      <c:catAx>
        <c:axId val="28628604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86271904"/>
        <c:crosses val="autoZero"/>
        <c:auto val="1"/>
        <c:lblAlgn val="ctr"/>
        <c:lblOffset val="100"/>
        <c:noMultiLvlLbl val="0"/>
      </c:catAx>
      <c:valAx>
        <c:axId val="2862719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86286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7460376155220968"/>
          <c:y val="5.4847485923972213E-2"/>
          <c:w val="0.47006969509401209"/>
          <c:h val="0.916713709858447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Лист1!$A$2:$A$16</c:f>
              <c:strCache>
                <c:ptCount val="15"/>
                <c:pt idx="0">
                  <c:v>Golang</c:v>
                </c:pt>
                <c:pt idx="1">
                  <c:v>Apache Airflow</c:v>
                </c:pt>
                <c:pt idx="2">
                  <c:v>Apache Spark</c:v>
                </c:pt>
                <c:pt idx="3">
                  <c:v>LLM</c:v>
                </c:pt>
                <c:pt idx="4">
                  <c:v>gRPC</c:v>
                </c:pt>
                <c:pt idx="5">
                  <c:v>Clickhouse</c:v>
                </c:pt>
                <c:pt idx="6">
                  <c:v>Scrum</c:v>
                </c:pt>
                <c:pt idx="7">
                  <c:v>DWH</c:v>
                </c:pt>
                <c:pt idx="8">
                  <c:v>ETL</c:v>
                </c:pt>
                <c:pt idx="9">
                  <c:v>Apache Kafka</c:v>
                </c:pt>
                <c:pt idx="10">
                  <c:v>Apache Hadoop</c:v>
                </c:pt>
                <c:pt idx="11">
                  <c:v>Terraform</c:v>
                </c:pt>
                <c:pt idx="12">
                  <c:v>Gitlab</c:v>
                </c:pt>
                <c:pt idx="13">
                  <c:v>Pandas</c:v>
                </c:pt>
                <c:pt idx="14">
                  <c:v>Kubernetes</c:v>
                </c:pt>
              </c:strCache>
            </c:strRef>
          </c:cat>
          <c:val>
            <c:numRef>
              <c:f>Лист1!$B$2:$B$16</c:f>
              <c:numCache>
                <c:formatCode>General</c:formatCode>
                <c:ptCount val="15"/>
                <c:pt idx="0">
                  <c:v>301</c:v>
                </c:pt>
                <c:pt idx="1">
                  <c:v>271.3</c:v>
                </c:pt>
                <c:pt idx="2">
                  <c:v>262.8</c:v>
                </c:pt>
                <c:pt idx="3">
                  <c:v>250</c:v>
                </c:pt>
                <c:pt idx="4">
                  <c:v>250</c:v>
                </c:pt>
                <c:pt idx="5">
                  <c:v>250</c:v>
                </c:pt>
                <c:pt idx="6">
                  <c:v>250</c:v>
                </c:pt>
                <c:pt idx="7">
                  <c:v>242</c:v>
                </c:pt>
                <c:pt idx="8">
                  <c:v>242</c:v>
                </c:pt>
                <c:pt idx="9">
                  <c:v>241.5</c:v>
                </c:pt>
                <c:pt idx="10">
                  <c:v>240.5</c:v>
                </c:pt>
                <c:pt idx="11">
                  <c:v>240</c:v>
                </c:pt>
                <c:pt idx="12">
                  <c:v>232.5</c:v>
                </c:pt>
                <c:pt idx="13">
                  <c:v>225.5</c:v>
                </c:pt>
                <c:pt idx="14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58-4A6C-A4DD-231E664D65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1365691107838587"/>
          <c:y val="5.4847485923972213E-2"/>
          <c:w val="0.51092830398122147"/>
          <c:h val="0.916713709858447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Лист1!$A$2:$A$16</c:f>
              <c:strCache>
                <c:ptCount val="15"/>
                <c:pt idx="0">
                  <c:v>SQL</c:v>
                </c:pt>
                <c:pt idx="1">
                  <c:v>Linux</c:v>
                </c:pt>
                <c:pt idx="2">
                  <c:v>Python</c:v>
                </c:pt>
                <c:pt idx="3">
                  <c:v>1C</c:v>
                </c:pt>
                <c:pt idx="4">
                  <c:v>PostgreSQL</c:v>
                </c:pt>
                <c:pt idx="5">
                  <c:v>Git</c:v>
                </c:pt>
                <c:pt idx="6">
                  <c:v>Docker</c:v>
                </c:pt>
                <c:pt idx="7">
                  <c:v>Kubernetes</c:v>
                </c:pt>
                <c:pt idx="8">
                  <c:v>Java</c:v>
                </c:pt>
                <c:pt idx="9">
                  <c:v>Apache Kafka</c:v>
                </c:pt>
                <c:pt idx="10">
                  <c:v>Aлгоритмы</c:v>
                </c:pt>
                <c:pt idx="11">
                  <c:v>Bash</c:v>
                </c:pt>
                <c:pt idx="12">
                  <c:v>Jira</c:v>
                </c:pt>
                <c:pt idx="13">
                  <c:v>Oracle</c:v>
                </c:pt>
                <c:pt idx="14">
                  <c:v>GitLab</c:v>
                </c:pt>
              </c:strCache>
            </c:strRef>
          </c:cat>
          <c:val>
            <c:numRef>
              <c:f>Лист1!$B$2:$B$16</c:f>
              <c:numCache>
                <c:formatCode>General</c:formatCode>
                <c:ptCount val="15"/>
                <c:pt idx="0">
                  <c:v>589</c:v>
                </c:pt>
                <c:pt idx="1">
                  <c:v>513</c:v>
                </c:pt>
                <c:pt idx="2">
                  <c:v>379</c:v>
                </c:pt>
                <c:pt idx="3">
                  <c:v>363</c:v>
                </c:pt>
                <c:pt idx="4">
                  <c:v>321</c:v>
                </c:pt>
                <c:pt idx="5">
                  <c:v>273</c:v>
                </c:pt>
                <c:pt idx="6">
                  <c:v>221</c:v>
                </c:pt>
                <c:pt idx="7">
                  <c:v>199</c:v>
                </c:pt>
                <c:pt idx="8">
                  <c:v>187</c:v>
                </c:pt>
                <c:pt idx="9">
                  <c:v>184</c:v>
                </c:pt>
                <c:pt idx="10">
                  <c:v>164</c:v>
                </c:pt>
                <c:pt idx="11">
                  <c:v>141</c:v>
                </c:pt>
                <c:pt idx="12">
                  <c:v>130</c:v>
                </c:pt>
                <c:pt idx="13">
                  <c:v>120</c:v>
                </c:pt>
                <c:pt idx="14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36-433D-81AF-7EF7C731A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1365691107838587"/>
          <c:y val="7.9318342602341168E-4"/>
          <c:w val="0.37799636980145013"/>
          <c:h val="0.9988038239788983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E59EDD"/>
            </a:solidFill>
            <a:ln>
              <a:solidFill>
                <a:srgbClr val="0B2C69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0" i="0" u="none" strike="noStrike" kern="1200" baseline="0">
                    <a:solidFill>
                      <a:schemeClr val="tx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Arial" panose="020B0604020202020204" pitchFamily="34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Лист1!$A$2:$A$16</c:f>
              <c:numCache>
                <c:formatCode>General</c:formatCode>
                <c:ptCount val="15"/>
              </c:numCache>
            </c:numRef>
          </c:cat>
          <c:val>
            <c:numRef>
              <c:f>Лист1!$B$2:$B$16</c:f>
              <c:numCache>
                <c:formatCode>0.0</c:formatCode>
                <c:ptCount val="15"/>
                <c:pt idx="0">
                  <c:v>25.175763839999998</c:v>
                </c:pt>
                <c:pt idx="1">
                  <c:v>18.345158912999999</c:v>
                </c:pt>
                <c:pt idx="2">
                  <c:v>17.721334315</c:v>
                </c:pt>
                <c:pt idx="3">
                  <c:v>13.601251777</c:v>
                </c:pt>
                <c:pt idx="4">
                  <c:v>9.4526097460000003</c:v>
                </c:pt>
                <c:pt idx="5">
                  <c:v>5.5456583229999996</c:v>
                </c:pt>
                <c:pt idx="6">
                  <c:v>3.2740936230000002</c:v>
                </c:pt>
                <c:pt idx="7">
                  <c:v>2.7521212909999999</c:v>
                </c:pt>
                <c:pt idx="8">
                  <c:v>2.6869335030000001</c:v>
                </c:pt>
                <c:pt idx="9">
                  <c:v>2.5725374639999998</c:v>
                </c:pt>
                <c:pt idx="10">
                  <c:v>2.4486684329999999</c:v>
                </c:pt>
                <c:pt idx="11">
                  <c:v>2.201978692</c:v>
                </c:pt>
                <c:pt idx="12">
                  <c:v>1.8526131530000001</c:v>
                </c:pt>
                <c:pt idx="13">
                  <c:v>1.4310812209999999</c:v>
                </c:pt>
                <c:pt idx="14">
                  <c:v>1.309964599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8B-403E-9743-91914E3328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415467248"/>
        <c:axId val="1415468912"/>
      </c:barChart>
      <c:catAx>
        <c:axId val="1415467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anose="020B0604020202020204" pitchFamily="34" charset="0"/>
              </a:defRPr>
            </a:pPr>
            <a:endParaRPr lang="ru-RU"/>
          </a:p>
        </c:txPr>
        <c:crossAx val="1415468912"/>
        <c:crosses val="autoZero"/>
        <c:auto val="1"/>
        <c:lblAlgn val="ctr"/>
        <c:lblOffset val="100"/>
        <c:noMultiLvlLbl val="0"/>
      </c:catAx>
      <c:valAx>
        <c:axId val="1415468912"/>
        <c:scaling>
          <c:orientation val="minMax"/>
        </c:scaling>
        <c:delete val="1"/>
        <c:axPos val="t"/>
        <c:numFmt formatCode="0.0" sourceLinked="1"/>
        <c:majorTickMark val="none"/>
        <c:minorTickMark val="none"/>
        <c:tickLblPos val="nextTo"/>
        <c:crossAx val="1415467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4b5930c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e4b5930c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b5930c53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4b5930c53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b5930c53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4b5930c53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6120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b5930c53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4b5930c53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83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4b5930c53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4b5930c53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8578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b5930c53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e4b5930c53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b5930c53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e4b5930c53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8630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8347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026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5927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b5930c53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3e4b5930c53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4613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33320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335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8044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b5930c53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g3e4b5930c53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0745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7122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4b5930c53_2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e4b5930c53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4b5930c53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e4b5930c53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27146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7712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2587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8422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26679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e4b5930c53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e4b5930c53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6220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11" Type="http://schemas.openxmlformats.org/officeDocument/2006/relationships/chart" Target="../charts/chart9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230372" y="180365"/>
            <a:ext cx="3748614" cy="485775"/>
            <a:chOff x="307163" y="240487"/>
            <a:chExt cx="4998152" cy="647700"/>
          </a:xfrm>
        </p:grpSpPr>
        <p:pic>
          <p:nvPicPr>
            <p:cNvPr id="130" name="Google Shape;130;p25" descr="Изображение выглядит как Шрифт, символ, логотип, круг&#10;&#10;Содержимое, созданное искусственным интеллектом, может быть неверным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07163" y="240487"/>
              <a:ext cx="6477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5"/>
            <p:cNvSpPr txBox="1"/>
            <p:nvPr/>
          </p:nvSpPr>
          <p:spPr>
            <a:xfrm>
              <a:off x="1012015" y="299008"/>
              <a:ext cx="42933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 b="0" i="0" u="none" strike="noStrike" cap="none">
                  <a:solidFill>
                    <a:srgbClr val="0B2C69"/>
                  </a:solidFill>
                  <a:latin typeface="Arial"/>
                  <a:ea typeface="Arial"/>
                  <a:cs typeface="Arial"/>
                  <a:sym typeface="Arial"/>
                </a:rPr>
                <a:t>ЦЕНТР НЕПРЕРЫВНОГО ОБРАЗОВАНИЯ</a:t>
              </a:r>
              <a:endParaRPr sz="1100"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rgbClr val="0B2C69"/>
                  </a:solidFill>
                  <a:latin typeface="Arial"/>
                  <a:ea typeface="Arial"/>
                  <a:cs typeface="Arial"/>
                  <a:sym typeface="Arial"/>
                </a:rPr>
                <a:t>ФАКУЛЬТЕТ КОМПЬЮТЕРНЫХ НАУК</a:t>
              </a:r>
              <a:endParaRPr sz="1100"/>
            </a:p>
          </p:txBody>
        </p:sp>
      </p:grpSp>
      <p:pic>
        <p:nvPicPr>
          <p:cNvPr id="132" name="Google Shape;13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87150" y="437250"/>
            <a:ext cx="8542300" cy="470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/>
        </p:nvSpPr>
        <p:spPr>
          <a:xfrm>
            <a:off x="382772" y="1885484"/>
            <a:ext cx="7820324" cy="130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algn="l"/>
            <a:r>
              <a:rPr lang="ru-RU" sz="4000" b="0" i="0" dirty="0">
                <a:solidFill>
                  <a:srgbClr val="1F1F1F"/>
                </a:solidFill>
                <a:effectLst/>
                <a:latin typeface="+mj-lt"/>
              </a:rPr>
              <a:t>Анализ факторов, влияющих на зарплаты специалистов в ИТ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D3652D-62AB-4F07-9749-D4D0F4E431D7}"/>
              </a:ext>
            </a:extLst>
          </p:cNvPr>
          <p:cNvSpPr txBox="1"/>
          <p:nvPr/>
        </p:nvSpPr>
        <p:spPr>
          <a:xfrm>
            <a:off x="446887" y="3258839"/>
            <a:ext cx="3588848" cy="7425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Автор проекта: </a:t>
            </a:r>
            <a:r>
              <a:rPr lang="ru-RU" dirty="0"/>
              <a:t>Анна Швец</a:t>
            </a:r>
          </a:p>
          <a:p>
            <a:endParaRPr lang="ru-RU" dirty="0"/>
          </a:p>
          <a:p>
            <a:r>
              <a:rPr lang="ru-RU" b="1" dirty="0"/>
              <a:t>Группа: </a:t>
            </a:r>
            <a:r>
              <a:rPr lang="ru-RU" dirty="0"/>
              <a:t>DA - 12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257175" y="29695"/>
            <a:ext cx="3207850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B2C69"/>
                </a:solidFill>
                <a:latin typeface="Arial"/>
                <a:ea typeface="Arial"/>
                <a:cs typeface="Arial"/>
                <a:sym typeface="Arial"/>
              </a:rPr>
              <a:t>ПЛАН/ПУНКТЫ</a:t>
            </a:r>
            <a:endParaRPr sz="1100" dirty="0"/>
          </a:p>
        </p:txBody>
      </p:sp>
      <p:sp>
        <p:nvSpPr>
          <p:cNvPr id="139" name="Google Shape;139;p26"/>
          <p:cNvSpPr/>
          <p:nvPr/>
        </p:nvSpPr>
        <p:spPr>
          <a:xfrm>
            <a:off x="257176" y="649618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1100" dirty="0"/>
          </a:p>
        </p:txBody>
      </p:sp>
      <p:sp>
        <p:nvSpPr>
          <p:cNvPr id="140" name="Google Shape;140;p26"/>
          <p:cNvSpPr/>
          <p:nvPr/>
        </p:nvSpPr>
        <p:spPr>
          <a:xfrm>
            <a:off x="257175" y="1455969"/>
            <a:ext cx="415498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sz="1100"/>
          </a:p>
        </p:txBody>
      </p:sp>
      <p:sp>
        <p:nvSpPr>
          <p:cNvPr id="141" name="Google Shape;141;p26"/>
          <p:cNvSpPr/>
          <p:nvPr/>
        </p:nvSpPr>
        <p:spPr>
          <a:xfrm>
            <a:off x="257175" y="2394839"/>
            <a:ext cx="415498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sz="1100" dirty="0"/>
          </a:p>
        </p:txBody>
      </p:sp>
      <p:sp>
        <p:nvSpPr>
          <p:cNvPr id="142" name="Google Shape;142;p26"/>
          <p:cNvSpPr/>
          <p:nvPr/>
        </p:nvSpPr>
        <p:spPr>
          <a:xfrm>
            <a:off x="257176" y="3719351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</a:t>
            </a:r>
            <a:endParaRPr sz="1100" dirty="0"/>
          </a:p>
        </p:txBody>
      </p:sp>
      <p:pic>
        <p:nvPicPr>
          <p:cNvPr id="144" name="Google Shape;144;p26" descr="Изображение выглядит как снимок экрана, Шрифт, Графика, текст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0993" y="4584098"/>
            <a:ext cx="1188570" cy="35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50;p27">
            <a:extLst>
              <a:ext uri="{FF2B5EF4-FFF2-40B4-BE49-F238E27FC236}">
                <a16:creationId xmlns:a16="http://schemas.microsoft.com/office/drawing/2014/main" id="{C2DFC917-D8EF-4DFA-B91B-F17A82E61C1D}"/>
              </a:ext>
            </a:extLst>
          </p:cNvPr>
          <p:cNvSpPr/>
          <p:nvPr/>
        </p:nvSpPr>
        <p:spPr>
          <a:xfrm>
            <a:off x="848441" y="760957"/>
            <a:ext cx="7319282" cy="67159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150;p27">
            <a:extLst>
              <a:ext uri="{FF2B5EF4-FFF2-40B4-BE49-F238E27FC236}">
                <a16:creationId xmlns:a16="http://schemas.microsoft.com/office/drawing/2014/main" id="{5498FA3B-FBEC-4EC7-94BD-F326DC0A6D8F}"/>
              </a:ext>
            </a:extLst>
          </p:cNvPr>
          <p:cNvSpPr/>
          <p:nvPr/>
        </p:nvSpPr>
        <p:spPr>
          <a:xfrm>
            <a:off x="802060" y="595224"/>
            <a:ext cx="7365664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Описание целей и задач аналитического проекта</a:t>
            </a:r>
            <a:endParaRPr sz="16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23408-BC55-428D-9173-310CEEEC2F6C}"/>
              </a:ext>
            </a:extLst>
          </p:cNvPr>
          <p:cNvSpPr txBox="1"/>
          <p:nvPr/>
        </p:nvSpPr>
        <p:spPr>
          <a:xfrm>
            <a:off x="976276" y="807582"/>
            <a:ext cx="538476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Постановка проблемы</a:t>
            </a:r>
            <a:r>
              <a:rPr lang="en-US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/</a:t>
            </a: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описание ценности аналитического проекта</a:t>
            </a:r>
            <a:endParaRPr lang="en-US" sz="1200" dirty="0">
              <a:solidFill>
                <a:srgbClr val="0B2C69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Постановка цели и задач аналитического проекта</a:t>
            </a:r>
          </a:p>
        </p:txBody>
      </p:sp>
      <p:sp>
        <p:nvSpPr>
          <p:cNvPr id="21" name="Google Shape;150;p27">
            <a:extLst>
              <a:ext uri="{FF2B5EF4-FFF2-40B4-BE49-F238E27FC236}">
                <a16:creationId xmlns:a16="http://schemas.microsoft.com/office/drawing/2014/main" id="{A3B13539-8465-446A-8902-0184C5FF0A60}"/>
              </a:ext>
            </a:extLst>
          </p:cNvPr>
          <p:cNvSpPr/>
          <p:nvPr/>
        </p:nvSpPr>
        <p:spPr>
          <a:xfrm>
            <a:off x="848443" y="1668724"/>
            <a:ext cx="7319282" cy="67159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" name="Google Shape;150;p27">
            <a:extLst>
              <a:ext uri="{FF2B5EF4-FFF2-40B4-BE49-F238E27FC236}">
                <a16:creationId xmlns:a16="http://schemas.microsoft.com/office/drawing/2014/main" id="{16C6BCC0-8EC9-473F-8119-2D836AE14B25}"/>
              </a:ext>
            </a:extLst>
          </p:cNvPr>
          <p:cNvSpPr/>
          <p:nvPr/>
        </p:nvSpPr>
        <p:spPr>
          <a:xfrm>
            <a:off x="802062" y="1502991"/>
            <a:ext cx="7365664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Методология работы</a:t>
            </a:r>
            <a:endParaRPr sz="16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C78ADF-A2B5-49B4-926E-AEEE24280347}"/>
              </a:ext>
            </a:extLst>
          </p:cNvPr>
          <p:cNvSpPr txBox="1"/>
          <p:nvPr/>
        </p:nvSpPr>
        <p:spPr>
          <a:xfrm>
            <a:off x="976278" y="1715349"/>
            <a:ext cx="61202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Описание процесса сбора данных и самих данных</a:t>
            </a:r>
            <a:endParaRPr lang="en-US" sz="1200" dirty="0">
              <a:solidFill>
                <a:srgbClr val="0B2C69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Описание процесса работы над проектом: основные этапы, используемые методы </a:t>
            </a:r>
          </a:p>
        </p:txBody>
      </p:sp>
      <p:sp>
        <p:nvSpPr>
          <p:cNvPr id="24" name="Google Shape;150;p27">
            <a:extLst>
              <a:ext uri="{FF2B5EF4-FFF2-40B4-BE49-F238E27FC236}">
                <a16:creationId xmlns:a16="http://schemas.microsoft.com/office/drawing/2014/main" id="{F6533277-44EA-4564-89A0-A59F73A59493}"/>
              </a:ext>
            </a:extLst>
          </p:cNvPr>
          <p:cNvSpPr/>
          <p:nvPr/>
        </p:nvSpPr>
        <p:spPr>
          <a:xfrm>
            <a:off x="841819" y="2583121"/>
            <a:ext cx="7319282" cy="10705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" name="Google Shape;150;p27">
            <a:extLst>
              <a:ext uri="{FF2B5EF4-FFF2-40B4-BE49-F238E27FC236}">
                <a16:creationId xmlns:a16="http://schemas.microsoft.com/office/drawing/2014/main" id="{08360927-09C7-41D4-AD68-99B65AAD5BBF}"/>
              </a:ext>
            </a:extLst>
          </p:cNvPr>
          <p:cNvSpPr/>
          <p:nvPr/>
        </p:nvSpPr>
        <p:spPr>
          <a:xfrm>
            <a:off x="795438" y="2417388"/>
            <a:ext cx="7365664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Описание результатов</a:t>
            </a:r>
            <a:endParaRPr sz="16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0FBD27-EC43-42DC-BC1B-462E5654E29D}"/>
              </a:ext>
            </a:extLst>
          </p:cNvPr>
          <p:cNvSpPr txBox="1"/>
          <p:nvPr/>
        </p:nvSpPr>
        <p:spPr>
          <a:xfrm>
            <a:off x="969654" y="2731346"/>
            <a:ext cx="71914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Результаты исследовательского и статистического анализа данных: визуализация полученных результатов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Результаты построения </a:t>
            </a:r>
            <a:r>
              <a:rPr lang="en-US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ML-</a:t>
            </a: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модели</a:t>
            </a:r>
          </a:p>
        </p:txBody>
      </p:sp>
      <p:sp>
        <p:nvSpPr>
          <p:cNvPr id="30" name="Google Shape;150;p27">
            <a:extLst>
              <a:ext uri="{FF2B5EF4-FFF2-40B4-BE49-F238E27FC236}">
                <a16:creationId xmlns:a16="http://schemas.microsoft.com/office/drawing/2014/main" id="{82F42E38-BC2C-4652-80E0-4064E29253E3}"/>
              </a:ext>
            </a:extLst>
          </p:cNvPr>
          <p:cNvSpPr/>
          <p:nvPr/>
        </p:nvSpPr>
        <p:spPr>
          <a:xfrm>
            <a:off x="835195" y="3901712"/>
            <a:ext cx="7319282" cy="10705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" name="Google Shape;150;p27">
            <a:extLst>
              <a:ext uri="{FF2B5EF4-FFF2-40B4-BE49-F238E27FC236}">
                <a16:creationId xmlns:a16="http://schemas.microsoft.com/office/drawing/2014/main" id="{5D5F4D8B-260A-4D42-B6CE-C0BA08145258}"/>
              </a:ext>
            </a:extLst>
          </p:cNvPr>
          <p:cNvSpPr/>
          <p:nvPr/>
        </p:nvSpPr>
        <p:spPr>
          <a:xfrm>
            <a:off x="788814" y="3735979"/>
            <a:ext cx="7365664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Будущее проекта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A8A25B-A8FA-46BC-8DC2-A71BA8119E52}"/>
              </a:ext>
            </a:extLst>
          </p:cNvPr>
          <p:cNvSpPr txBox="1"/>
          <p:nvPr/>
        </p:nvSpPr>
        <p:spPr>
          <a:xfrm>
            <a:off x="963030" y="3948337"/>
            <a:ext cx="71914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Ограничения проекта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Практические рекомендации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Дальнейшее развитие проекта</a:t>
            </a:r>
          </a:p>
          <a:p>
            <a:pPr>
              <a:lnSpc>
                <a:spcPct val="150000"/>
              </a:lnSpc>
            </a:pPr>
            <a:endParaRPr lang="ru-RU" sz="1200" dirty="0">
              <a:solidFill>
                <a:srgbClr val="0B2C69"/>
              </a:solidFill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3;p30">
            <a:extLst>
              <a:ext uri="{FF2B5EF4-FFF2-40B4-BE49-F238E27FC236}">
                <a16:creationId xmlns:a16="http://schemas.microsoft.com/office/drawing/2014/main" id="{4661F90B-0A70-4734-9B31-FAA65EC9877A}"/>
              </a:ext>
            </a:extLst>
          </p:cNvPr>
          <p:cNvSpPr/>
          <p:nvPr/>
        </p:nvSpPr>
        <p:spPr>
          <a:xfrm>
            <a:off x="148442" y="902326"/>
            <a:ext cx="3880220" cy="1587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Компаниям необходимо понимать, как эффективно закрывать кадровые потребности и сколько нужно предложить, чтобы привлечь целевого ИТ-кандидата</a:t>
            </a:r>
          </a:p>
        </p:txBody>
      </p:sp>
      <p:sp>
        <p:nvSpPr>
          <p:cNvPr id="15" name="Google Shape;204;p30">
            <a:extLst>
              <a:ext uri="{FF2B5EF4-FFF2-40B4-BE49-F238E27FC236}">
                <a16:creationId xmlns:a16="http://schemas.microsoft.com/office/drawing/2014/main" id="{92DA513F-E6BA-4B44-AE58-C9186B7AB8D6}"/>
              </a:ext>
            </a:extLst>
          </p:cNvPr>
          <p:cNvSpPr/>
          <p:nvPr/>
        </p:nvSpPr>
        <p:spPr>
          <a:xfrm>
            <a:off x="148119" y="3350595"/>
            <a:ext cx="3880220" cy="158679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Соискателям важно определить, а что именно они должны предложить работодателю, чтобы получить конкурентное зарплатное предложение: специфичный технический навык, релевантный опыт, ИИ-компетенции, высшее образование</a:t>
            </a:r>
          </a:p>
        </p:txBody>
      </p:sp>
      <p:sp>
        <p:nvSpPr>
          <p:cNvPr id="16" name="Google Shape;206;p30">
            <a:extLst>
              <a:ext uri="{FF2B5EF4-FFF2-40B4-BE49-F238E27FC236}">
                <a16:creationId xmlns:a16="http://schemas.microsoft.com/office/drawing/2014/main" id="{64CEAF99-CE72-47EA-8DA7-7DF9566DE01F}"/>
              </a:ext>
            </a:extLst>
          </p:cNvPr>
          <p:cNvSpPr/>
          <p:nvPr/>
        </p:nvSpPr>
        <p:spPr>
          <a:xfrm>
            <a:off x="4845750" y="1792389"/>
            <a:ext cx="4244441" cy="167248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FF0000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Какие факторы сильнее всего влияют на уровень зарплаты ИТ-специалистов в России в 2026 году?</a:t>
            </a:r>
            <a:endParaRPr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1" name="Google Shape;138;p26">
            <a:extLst>
              <a:ext uri="{FF2B5EF4-FFF2-40B4-BE49-F238E27FC236}">
                <a16:creationId xmlns:a16="http://schemas.microsoft.com/office/drawing/2014/main" id="{03E17E91-E593-4948-9B94-88AD7F48EEAB}"/>
              </a:ext>
            </a:extLst>
          </p:cNvPr>
          <p:cNvSpPr txBox="1"/>
          <p:nvPr/>
        </p:nvSpPr>
        <p:spPr>
          <a:xfrm>
            <a:off x="257175" y="29695"/>
            <a:ext cx="7833088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dirty="0">
                <a:solidFill>
                  <a:srgbClr val="0B2C69"/>
                </a:solidFill>
                <a:latin typeface="Arial"/>
                <a:ea typeface="Arial"/>
                <a:cs typeface="Arial"/>
                <a:sym typeface="Arial"/>
              </a:rPr>
              <a:t>ОПИСАНИЕ ЦЕЛЕЙ И ЗАДАЧ ПРОЕКТА</a:t>
            </a:r>
          </a:p>
        </p:txBody>
      </p:sp>
      <p:sp>
        <p:nvSpPr>
          <p:cNvPr id="22" name="Google Shape;150;p27">
            <a:extLst>
              <a:ext uri="{FF2B5EF4-FFF2-40B4-BE49-F238E27FC236}">
                <a16:creationId xmlns:a16="http://schemas.microsoft.com/office/drawing/2014/main" id="{5C50102D-E1F6-48AF-B670-0F2FEF11D75F}"/>
              </a:ext>
            </a:extLst>
          </p:cNvPr>
          <p:cNvSpPr/>
          <p:nvPr/>
        </p:nvSpPr>
        <p:spPr>
          <a:xfrm>
            <a:off x="80822" y="817441"/>
            <a:ext cx="3941741" cy="45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Работодатели</a:t>
            </a:r>
            <a:endParaRPr sz="16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Google Shape;150;p27">
            <a:extLst>
              <a:ext uri="{FF2B5EF4-FFF2-40B4-BE49-F238E27FC236}">
                <a16:creationId xmlns:a16="http://schemas.microsoft.com/office/drawing/2014/main" id="{0B1A84F1-085C-41FC-9CDE-AE8F83CB356C}"/>
              </a:ext>
            </a:extLst>
          </p:cNvPr>
          <p:cNvSpPr/>
          <p:nvPr/>
        </p:nvSpPr>
        <p:spPr>
          <a:xfrm>
            <a:off x="114469" y="3045622"/>
            <a:ext cx="3941741" cy="4543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Соискатели</a:t>
            </a:r>
            <a:endParaRPr sz="16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" name="Google Shape;150;p27">
            <a:extLst>
              <a:ext uri="{FF2B5EF4-FFF2-40B4-BE49-F238E27FC236}">
                <a16:creationId xmlns:a16="http://schemas.microsoft.com/office/drawing/2014/main" id="{ECB43A51-243E-4F02-A87F-3380F363EAF2}"/>
              </a:ext>
            </a:extLst>
          </p:cNvPr>
          <p:cNvSpPr/>
          <p:nvPr/>
        </p:nvSpPr>
        <p:spPr>
          <a:xfrm>
            <a:off x="4778454" y="1792389"/>
            <a:ext cx="4311737" cy="45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FF0000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Исследовательский вопрос</a:t>
            </a:r>
            <a:endParaRPr sz="16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" name="Стрелка: вправо 30">
            <a:extLst>
              <a:ext uri="{FF2B5EF4-FFF2-40B4-BE49-F238E27FC236}">
                <a16:creationId xmlns:a16="http://schemas.microsoft.com/office/drawing/2014/main" id="{DC50458D-A8F8-448A-B08C-3A8EE1A910EF}"/>
              </a:ext>
            </a:extLst>
          </p:cNvPr>
          <p:cNvSpPr/>
          <p:nvPr/>
        </p:nvSpPr>
        <p:spPr>
          <a:xfrm>
            <a:off x="4123508" y="1555648"/>
            <a:ext cx="574388" cy="223133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Google Shape;144;p26" descr="Изображение выглядит как снимок экрана, Шрифт, График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FEA76CB-E454-423F-9D17-DCB2EEEA1C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0993" y="4584098"/>
            <a:ext cx="1188570" cy="35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257175" y="29695"/>
            <a:ext cx="8188556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dirty="0">
                <a:solidFill>
                  <a:srgbClr val="0B2C69"/>
                </a:solidFill>
                <a:latin typeface="Arial"/>
                <a:ea typeface="Arial"/>
                <a:cs typeface="Arial"/>
                <a:sym typeface="Arial"/>
              </a:rPr>
              <a:t>ОПИСАНИЕ ЦЕЛЕЙ И ЗАДАЧ ПРОЕКТА</a:t>
            </a:r>
          </a:p>
        </p:txBody>
      </p:sp>
      <p:pic>
        <p:nvPicPr>
          <p:cNvPr id="144" name="Google Shape;144;p26" descr="Изображение выглядит как снимок экрана, Шрифт, Графика, текст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0993" y="4584098"/>
            <a:ext cx="1188570" cy="351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50;p27">
            <a:extLst>
              <a:ext uri="{FF2B5EF4-FFF2-40B4-BE49-F238E27FC236}">
                <a16:creationId xmlns:a16="http://schemas.microsoft.com/office/drawing/2014/main" id="{A3B13539-8465-446A-8902-0184C5FF0A60}"/>
              </a:ext>
            </a:extLst>
          </p:cNvPr>
          <p:cNvSpPr/>
          <p:nvPr/>
        </p:nvSpPr>
        <p:spPr>
          <a:xfrm>
            <a:off x="747252" y="2103310"/>
            <a:ext cx="3592519" cy="65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Сбор данных вакансий ИТ-специалистов из различных источников</a:t>
            </a:r>
          </a:p>
        </p:txBody>
      </p:sp>
      <p:sp>
        <p:nvSpPr>
          <p:cNvPr id="24" name="Google Shape;150;p27">
            <a:extLst>
              <a:ext uri="{FF2B5EF4-FFF2-40B4-BE49-F238E27FC236}">
                <a16:creationId xmlns:a16="http://schemas.microsoft.com/office/drawing/2014/main" id="{F6533277-44EA-4564-89A0-A59F73A59493}"/>
              </a:ext>
            </a:extLst>
          </p:cNvPr>
          <p:cNvSpPr/>
          <p:nvPr/>
        </p:nvSpPr>
        <p:spPr>
          <a:xfrm>
            <a:off x="257174" y="926090"/>
            <a:ext cx="8249695" cy="88666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" name="Google Shape;150;p27">
            <a:extLst>
              <a:ext uri="{FF2B5EF4-FFF2-40B4-BE49-F238E27FC236}">
                <a16:creationId xmlns:a16="http://schemas.microsoft.com/office/drawing/2014/main" id="{08360927-09C7-41D4-AD68-99B65AAD5BBF}"/>
              </a:ext>
            </a:extLst>
          </p:cNvPr>
          <p:cNvSpPr/>
          <p:nvPr/>
        </p:nvSpPr>
        <p:spPr>
          <a:xfrm>
            <a:off x="210793" y="758762"/>
            <a:ext cx="8296076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Цель аналитического проекта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0FBD27-EC43-42DC-BC1B-462E5654E29D}"/>
              </a:ext>
            </a:extLst>
          </p:cNvPr>
          <p:cNvSpPr txBox="1"/>
          <p:nvPr/>
        </p:nvSpPr>
        <p:spPr>
          <a:xfrm>
            <a:off x="385010" y="1050367"/>
            <a:ext cx="7921282" cy="70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Определить и оценить факторы, влияющие на уровень зарплатного предложения для ИТ-специалистов в России в 2026 году.</a:t>
            </a:r>
          </a:p>
        </p:txBody>
      </p:sp>
      <p:sp>
        <p:nvSpPr>
          <p:cNvPr id="28" name="Google Shape;139;p26">
            <a:extLst>
              <a:ext uri="{FF2B5EF4-FFF2-40B4-BE49-F238E27FC236}">
                <a16:creationId xmlns:a16="http://schemas.microsoft.com/office/drawing/2014/main" id="{9648F981-8694-4C9B-B095-01890CAC5785}"/>
              </a:ext>
            </a:extLst>
          </p:cNvPr>
          <p:cNvSpPr/>
          <p:nvPr/>
        </p:nvSpPr>
        <p:spPr>
          <a:xfrm>
            <a:off x="257174" y="2123069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1100" dirty="0"/>
          </a:p>
        </p:txBody>
      </p:sp>
      <p:sp>
        <p:nvSpPr>
          <p:cNvPr id="38" name="Google Shape;150;p27">
            <a:extLst>
              <a:ext uri="{FF2B5EF4-FFF2-40B4-BE49-F238E27FC236}">
                <a16:creationId xmlns:a16="http://schemas.microsoft.com/office/drawing/2014/main" id="{91AECABA-023D-45E1-8CDD-7A2D3CAE49AF}"/>
              </a:ext>
            </a:extLst>
          </p:cNvPr>
          <p:cNvSpPr/>
          <p:nvPr/>
        </p:nvSpPr>
        <p:spPr>
          <a:xfrm>
            <a:off x="747252" y="2959043"/>
            <a:ext cx="3592519" cy="65879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r>
              <a:rPr lang="ru-RU" sz="1200" dirty="0">
                <a:solidFill>
                  <a:srgbClr val="0B2C69"/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</a:rPr>
              <a:t>Предобработка полученных данных вакансий</a:t>
            </a:r>
          </a:p>
        </p:txBody>
      </p:sp>
      <p:sp>
        <p:nvSpPr>
          <p:cNvPr id="39" name="Google Shape;139;p26">
            <a:extLst>
              <a:ext uri="{FF2B5EF4-FFF2-40B4-BE49-F238E27FC236}">
                <a16:creationId xmlns:a16="http://schemas.microsoft.com/office/drawing/2014/main" id="{50C62096-DF2C-45C8-ACFE-0C4DB0920DBA}"/>
              </a:ext>
            </a:extLst>
          </p:cNvPr>
          <p:cNvSpPr/>
          <p:nvPr/>
        </p:nvSpPr>
        <p:spPr>
          <a:xfrm>
            <a:off x="257174" y="2978803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2</a:t>
            </a:r>
            <a:endParaRPr sz="1100" dirty="0"/>
          </a:p>
        </p:txBody>
      </p:sp>
      <p:sp>
        <p:nvSpPr>
          <p:cNvPr id="40" name="Google Shape;150;p27">
            <a:extLst>
              <a:ext uri="{FF2B5EF4-FFF2-40B4-BE49-F238E27FC236}">
                <a16:creationId xmlns:a16="http://schemas.microsoft.com/office/drawing/2014/main" id="{0DC85C55-BED5-42B0-A7EE-0A7EA40EAD7E}"/>
              </a:ext>
            </a:extLst>
          </p:cNvPr>
          <p:cNvSpPr/>
          <p:nvPr/>
        </p:nvSpPr>
        <p:spPr>
          <a:xfrm>
            <a:off x="747252" y="3887091"/>
            <a:ext cx="3592519" cy="65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Разведывательный анализ данных(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EDA)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" name="Google Shape;139;p26">
            <a:extLst>
              <a:ext uri="{FF2B5EF4-FFF2-40B4-BE49-F238E27FC236}">
                <a16:creationId xmlns:a16="http://schemas.microsoft.com/office/drawing/2014/main" id="{75368272-3818-4E81-9B74-3248AF0BE96A}"/>
              </a:ext>
            </a:extLst>
          </p:cNvPr>
          <p:cNvSpPr/>
          <p:nvPr/>
        </p:nvSpPr>
        <p:spPr>
          <a:xfrm>
            <a:off x="257174" y="3906850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3</a:t>
            </a:r>
            <a:endParaRPr sz="1100" dirty="0"/>
          </a:p>
        </p:txBody>
      </p:sp>
      <p:sp>
        <p:nvSpPr>
          <p:cNvPr id="42" name="Google Shape;150;p27">
            <a:extLst>
              <a:ext uri="{FF2B5EF4-FFF2-40B4-BE49-F238E27FC236}">
                <a16:creationId xmlns:a16="http://schemas.microsoft.com/office/drawing/2014/main" id="{F64C7E44-5839-45FF-B2C4-7628093B0D1F}"/>
              </a:ext>
            </a:extLst>
          </p:cNvPr>
          <p:cNvSpPr/>
          <p:nvPr/>
        </p:nvSpPr>
        <p:spPr>
          <a:xfrm>
            <a:off x="5062078" y="2123069"/>
            <a:ext cx="3592519" cy="65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Формирование и проверка статистических гипотез</a:t>
            </a:r>
          </a:p>
        </p:txBody>
      </p:sp>
      <p:sp>
        <p:nvSpPr>
          <p:cNvPr id="43" name="Google Shape;139;p26">
            <a:extLst>
              <a:ext uri="{FF2B5EF4-FFF2-40B4-BE49-F238E27FC236}">
                <a16:creationId xmlns:a16="http://schemas.microsoft.com/office/drawing/2014/main" id="{57461D5F-E48B-473D-80D7-2079054A579E}"/>
              </a:ext>
            </a:extLst>
          </p:cNvPr>
          <p:cNvSpPr/>
          <p:nvPr/>
        </p:nvSpPr>
        <p:spPr>
          <a:xfrm>
            <a:off x="4572000" y="2142828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4</a:t>
            </a:r>
            <a:endParaRPr sz="1100" dirty="0"/>
          </a:p>
        </p:txBody>
      </p:sp>
      <p:sp>
        <p:nvSpPr>
          <p:cNvPr id="44" name="Google Shape;150;p27">
            <a:extLst>
              <a:ext uri="{FF2B5EF4-FFF2-40B4-BE49-F238E27FC236}">
                <a16:creationId xmlns:a16="http://schemas.microsoft.com/office/drawing/2014/main" id="{584B4427-26AC-4766-BD2B-B552101C25F1}"/>
              </a:ext>
            </a:extLst>
          </p:cNvPr>
          <p:cNvSpPr/>
          <p:nvPr/>
        </p:nvSpPr>
        <p:spPr>
          <a:xfrm>
            <a:off x="5062078" y="2978803"/>
            <a:ext cx="3592519" cy="65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Построение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ML-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модели зарплатного предложения</a:t>
            </a:r>
          </a:p>
        </p:txBody>
      </p:sp>
      <p:sp>
        <p:nvSpPr>
          <p:cNvPr id="45" name="Google Shape;139;p26">
            <a:extLst>
              <a:ext uri="{FF2B5EF4-FFF2-40B4-BE49-F238E27FC236}">
                <a16:creationId xmlns:a16="http://schemas.microsoft.com/office/drawing/2014/main" id="{EE75843B-D52A-482C-A754-7D31F832AB87}"/>
              </a:ext>
            </a:extLst>
          </p:cNvPr>
          <p:cNvSpPr/>
          <p:nvPr/>
        </p:nvSpPr>
        <p:spPr>
          <a:xfrm>
            <a:off x="4571999" y="2978803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5</a:t>
            </a:r>
            <a:endParaRPr sz="1100" dirty="0"/>
          </a:p>
        </p:txBody>
      </p:sp>
      <p:sp>
        <p:nvSpPr>
          <p:cNvPr id="46" name="Google Shape;150;p27">
            <a:extLst>
              <a:ext uri="{FF2B5EF4-FFF2-40B4-BE49-F238E27FC236}">
                <a16:creationId xmlns:a16="http://schemas.microsoft.com/office/drawing/2014/main" id="{35B65D9E-9112-4E5A-A459-2341B8094146}"/>
              </a:ext>
            </a:extLst>
          </p:cNvPr>
          <p:cNvSpPr/>
          <p:nvPr/>
        </p:nvSpPr>
        <p:spPr>
          <a:xfrm>
            <a:off x="5062078" y="3906850"/>
            <a:ext cx="3592519" cy="658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Формирование выводов и практических рекомендаций</a:t>
            </a:r>
          </a:p>
        </p:txBody>
      </p:sp>
      <p:sp>
        <p:nvSpPr>
          <p:cNvPr id="47" name="Google Shape;139;p26">
            <a:extLst>
              <a:ext uri="{FF2B5EF4-FFF2-40B4-BE49-F238E27FC236}">
                <a16:creationId xmlns:a16="http://schemas.microsoft.com/office/drawing/2014/main" id="{40ECC216-0FC6-48E9-88D7-A0A5753F55B6}"/>
              </a:ext>
            </a:extLst>
          </p:cNvPr>
          <p:cNvSpPr/>
          <p:nvPr/>
        </p:nvSpPr>
        <p:spPr>
          <a:xfrm>
            <a:off x="4572000" y="3926609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6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1540970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257175" y="29695"/>
            <a:ext cx="8038384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30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ОЖИДАЕМЫЕ РЕЗУЛЬТАТЫ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4" name="Google Shape;144;p26" descr="Изображение выглядит как снимок экрана, Шрифт, Графика, текст&#10;&#10;Содержимое, созданное искусственным интеллектом, может быть неверным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0993" y="4584098"/>
            <a:ext cx="1188570" cy="351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50;p27">
            <a:extLst>
              <a:ext uri="{FF2B5EF4-FFF2-40B4-BE49-F238E27FC236}">
                <a16:creationId xmlns:a16="http://schemas.microsoft.com/office/drawing/2014/main" id="{C2DFC917-D8EF-4DFA-B91B-F17A82E61C1D}"/>
              </a:ext>
            </a:extLst>
          </p:cNvPr>
          <p:cNvSpPr/>
          <p:nvPr/>
        </p:nvSpPr>
        <p:spPr>
          <a:xfrm>
            <a:off x="848441" y="999161"/>
            <a:ext cx="6767626" cy="81234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23408-BC55-428D-9173-310CEEEC2F6C}"/>
              </a:ext>
            </a:extLst>
          </p:cNvPr>
          <p:cNvSpPr txBox="1"/>
          <p:nvPr/>
        </p:nvSpPr>
        <p:spPr>
          <a:xfrm>
            <a:off x="976276" y="1015905"/>
            <a:ext cx="6824717" cy="70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Перечень факторов с оценкой их вклада в различия зарплат, подкрепленный результатами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EDA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, статистического анализа и модели машинного обучения</a:t>
            </a:r>
          </a:p>
        </p:txBody>
      </p:sp>
      <p:sp>
        <p:nvSpPr>
          <p:cNvPr id="20" name="Google Shape;139;p26">
            <a:extLst>
              <a:ext uri="{FF2B5EF4-FFF2-40B4-BE49-F238E27FC236}">
                <a16:creationId xmlns:a16="http://schemas.microsoft.com/office/drawing/2014/main" id="{5CC945D6-2E12-45A2-85B9-A8508D4747E8}"/>
              </a:ext>
            </a:extLst>
          </p:cNvPr>
          <p:cNvSpPr/>
          <p:nvPr/>
        </p:nvSpPr>
        <p:spPr>
          <a:xfrm>
            <a:off x="257176" y="1043385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1100" dirty="0"/>
          </a:p>
        </p:txBody>
      </p:sp>
      <p:sp>
        <p:nvSpPr>
          <p:cNvPr id="27" name="Google Shape;150;p27">
            <a:extLst>
              <a:ext uri="{FF2B5EF4-FFF2-40B4-BE49-F238E27FC236}">
                <a16:creationId xmlns:a16="http://schemas.microsoft.com/office/drawing/2014/main" id="{C321A29B-22BE-4C4A-8BE9-55F4359BFBCB}"/>
              </a:ext>
            </a:extLst>
          </p:cNvPr>
          <p:cNvSpPr/>
          <p:nvPr/>
        </p:nvSpPr>
        <p:spPr>
          <a:xfrm>
            <a:off x="848441" y="2192916"/>
            <a:ext cx="6767626" cy="81234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F4316D-183E-4464-90E3-9C8E2AF40377}"/>
              </a:ext>
            </a:extLst>
          </p:cNvPr>
          <p:cNvSpPr txBox="1"/>
          <p:nvPr/>
        </p:nvSpPr>
        <p:spPr>
          <a:xfrm>
            <a:off x="976276" y="2209660"/>
            <a:ext cx="6824717" cy="70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Практические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 рекомендации для соискателей и работодателей по тому, как выстраивать зарплатное ожидание и повышать свою «цену» на рынке </a:t>
            </a:r>
          </a:p>
        </p:txBody>
      </p:sp>
      <p:sp>
        <p:nvSpPr>
          <p:cNvPr id="29" name="Google Shape;139;p26">
            <a:extLst>
              <a:ext uri="{FF2B5EF4-FFF2-40B4-BE49-F238E27FC236}">
                <a16:creationId xmlns:a16="http://schemas.microsoft.com/office/drawing/2014/main" id="{3B3F1583-8D1B-43CB-BE04-0DECE137C4FA}"/>
              </a:ext>
            </a:extLst>
          </p:cNvPr>
          <p:cNvSpPr/>
          <p:nvPr/>
        </p:nvSpPr>
        <p:spPr>
          <a:xfrm>
            <a:off x="257176" y="2237140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2</a:t>
            </a:r>
            <a:endParaRPr sz="1100" dirty="0"/>
          </a:p>
        </p:txBody>
      </p:sp>
      <p:sp>
        <p:nvSpPr>
          <p:cNvPr id="33" name="Google Shape;150;p27">
            <a:extLst>
              <a:ext uri="{FF2B5EF4-FFF2-40B4-BE49-F238E27FC236}">
                <a16:creationId xmlns:a16="http://schemas.microsoft.com/office/drawing/2014/main" id="{AB16BE64-2F37-4913-9D81-CE3416904CA2}"/>
              </a:ext>
            </a:extLst>
          </p:cNvPr>
          <p:cNvSpPr/>
          <p:nvPr/>
        </p:nvSpPr>
        <p:spPr>
          <a:xfrm>
            <a:off x="848440" y="3386671"/>
            <a:ext cx="6767626" cy="81234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FE7B9CC-0077-4BE4-B2C6-C7E55E56B8F3}"/>
              </a:ext>
            </a:extLst>
          </p:cNvPr>
          <p:cNvSpPr txBox="1"/>
          <p:nvPr/>
        </p:nvSpPr>
        <p:spPr>
          <a:xfrm>
            <a:off x="976275" y="3403415"/>
            <a:ext cx="6824717" cy="702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Аналитической отчет, демонстрирующий состояние  зарплатного рынка для ИТ-специалистов РФ в 2026 году, а также ключевые артефакты проведенного анализа</a:t>
            </a:r>
            <a:endParaRPr kumimoji="0" lang="ru-RU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Arial"/>
              <a:sym typeface="Arial"/>
            </a:endParaRPr>
          </a:p>
        </p:txBody>
      </p:sp>
      <p:sp>
        <p:nvSpPr>
          <p:cNvPr id="35" name="Google Shape;139;p26">
            <a:extLst>
              <a:ext uri="{FF2B5EF4-FFF2-40B4-BE49-F238E27FC236}">
                <a16:creationId xmlns:a16="http://schemas.microsoft.com/office/drawing/2014/main" id="{071CF38D-0F49-41F6-83C0-37A8921FB364}"/>
              </a:ext>
            </a:extLst>
          </p:cNvPr>
          <p:cNvSpPr/>
          <p:nvPr/>
        </p:nvSpPr>
        <p:spPr>
          <a:xfrm>
            <a:off x="257175" y="3430895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3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1895490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257174" y="29695"/>
            <a:ext cx="9313545" cy="43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МЕТОДОЛОГИЯ РАБОТЫ</a:t>
            </a:r>
          </a:p>
        </p:txBody>
      </p:sp>
      <p:sp>
        <p:nvSpPr>
          <p:cNvPr id="139" name="Google Shape;139;p26"/>
          <p:cNvSpPr/>
          <p:nvPr/>
        </p:nvSpPr>
        <p:spPr>
          <a:xfrm>
            <a:off x="257176" y="649618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0" name="Google Shape;140;p26"/>
          <p:cNvSpPr/>
          <p:nvPr/>
        </p:nvSpPr>
        <p:spPr>
          <a:xfrm>
            <a:off x="257175" y="1455969"/>
            <a:ext cx="415498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257175" y="2394839"/>
            <a:ext cx="415498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257176" y="3719351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4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150;p27">
            <a:extLst>
              <a:ext uri="{FF2B5EF4-FFF2-40B4-BE49-F238E27FC236}">
                <a16:creationId xmlns:a16="http://schemas.microsoft.com/office/drawing/2014/main" id="{C2DFC917-D8EF-4DFA-B91B-F17A82E61C1D}"/>
              </a:ext>
            </a:extLst>
          </p:cNvPr>
          <p:cNvSpPr/>
          <p:nvPr/>
        </p:nvSpPr>
        <p:spPr>
          <a:xfrm>
            <a:off x="848441" y="760957"/>
            <a:ext cx="7319282" cy="67159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150;p27">
            <a:extLst>
              <a:ext uri="{FF2B5EF4-FFF2-40B4-BE49-F238E27FC236}">
                <a16:creationId xmlns:a16="http://schemas.microsoft.com/office/drawing/2014/main" id="{5498FA3B-FBEC-4EC7-94BD-F326DC0A6D8F}"/>
              </a:ext>
            </a:extLst>
          </p:cNvPr>
          <p:cNvSpPr/>
          <p:nvPr/>
        </p:nvSpPr>
        <p:spPr>
          <a:xfrm>
            <a:off x="802060" y="595224"/>
            <a:ext cx="7365664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Сбор, предобработка и унификация данных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23408-BC55-428D-9173-310CEEEC2F6C}"/>
              </a:ext>
            </a:extLst>
          </p:cNvPr>
          <p:cNvSpPr txBox="1"/>
          <p:nvPr/>
        </p:nvSpPr>
        <p:spPr>
          <a:xfrm>
            <a:off x="976276" y="827901"/>
            <a:ext cx="6772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Сбор данных, их очистка, обработка пропусков и выбросов.</a:t>
            </a:r>
          </a:p>
          <a:p>
            <a:pPr marL="171450" marR="0" lvl="0" indent="-1714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Инжиниринг признаков: формирование целевой переменной (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salary_avg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), создание бинарных и числовых флагов (грейд, локация, размер компании). </a:t>
            </a:r>
          </a:p>
        </p:txBody>
      </p:sp>
      <p:sp>
        <p:nvSpPr>
          <p:cNvPr id="21" name="Google Shape;150;p27">
            <a:extLst>
              <a:ext uri="{FF2B5EF4-FFF2-40B4-BE49-F238E27FC236}">
                <a16:creationId xmlns:a16="http://schemas.microsoft.com/office/drawing/2014/main" id="{A3B13539-8465-446A-8902-0184C5FF0A60}"/>
              </a:ext>
            </a:extLst>
          </p:cNvPr>
          <p:cNvSpPr/>
          <p:nvPr/>
        </p:nvSpPr>
        <p:spPr>
          <a:xfrm>
            <a:off x="848443" y="1668724"/>
            <a:ext cx="7319282" cy="67159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" name="Google Shape;150;p27">
            <a:extLst>
              <a:ext uri="{FF2B5EF4-FFF2-40B4-BE49-F238E27FC236}">
                <a16:creationId xmlns:a16="http://schemas.microsoft.com/office/drawing/2014/main" id="{16C6BCC0-8EC9-473F-8119-2D836AE14B25}"/>
              </a:ext>
            </a:extLst>
          </p:cNvPr>
          <p:cNvSpPr/>
          <p:nvPr/>
        </p:nvSpPr>
        <p:spPr>
          <a:xfrm>
            <a:off x="802062" y="1502991"/>
            <a:ext cx="7365664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Разведывательный анализ данных (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EDA)</a:t>
            </a:r>
            <a:endParaRPr kumimoji="0" lang="ru-RU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C78ADF-A2B5-49B4-926E-AEEE24280347}"/>
              </a:ext>
            </a:extLst>
          </p:cNvPr>
          <p:cNvSpPr txBox="1"/>
          <p:nvPr/>
        </p:nvSpPr>
        <p:spPr>
          <a:xfrm>
            <a:off x="976278" y="1715349"/>
            <a:ext cx="73142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Оценка распределения целевой переменной и категориальных признаков (гистограммы, 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боксплоты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Выявление структурных перекосов выборки и дисбаланса классов</a:t>
            </a:r>
          </a:p>
        </p:txBody>
      </p:sp>
      <p:sp>
        <p:nvSpPr>
          <p:cNvPr id="24" name="Google Shape;150;p27">
            <a:extLst>
              <a:ext uri="{FF2B5EF4-FFF2-40B4-BE49-F238E27FC236}">
                <a16:creationId xmlns:a16="http://schemas.microsoft.com/office/drawing/2014/main" id="{F6533277-44EA-4564-89A0-A59F73A59493}"/>
              </a:ext>
            </a:extLst>
          </p:cNvPr>
          <p:cNvSpPr/>
          <p:nvPr/>
        </p:nvSpPr>
        <p:spPr>
          <a:xfrm>
            <a:off x="841819" y="2583121"/>
            <a:ext cx="7319282" cy="10705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" name="Google Shape;150;p27">
            <a:extLst>
              <a:ext uri="{FF2B5EF4-FFF2-40B4-BE49-F238E27FC236}">
                <a16:creationId xmlns:a16="http://schemas.microsoft.com/office/drawing/2014/main" id="{08360927-09C7-41D4-AD68-99B65AAD5BBF}"/>
              </a:ext>
            </a:extLst>
          </p:cNvPr>
          <p:cNvSpPr/>
          <p:nvPr/>
        </p:nvSpPr>
        <p:spPr>
          <a:xfrm>
            <a:off x="795438" y="2417388"/>
            <a:ext cx="7365664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Статистическая проверка гипотез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0FBD27-EC43-42DC-BC1B-462E5654E29D}"/>
              </a:ext>
            </a:extLst>
          </p:cNvPr>
          <p:cNvSpPr txBox="1"/>
          <p:nvPr/>
        </p:nvSpPr>
        <p:spPr>
          <a:xfrm>
            <a:off x="969654" y="2629746"/>
            <a:ext cx="71914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U-критерий Манна-Уитни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: для сравнения медианных зарплат между группами 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H-критерий </a:t>
            </a:r>
            <a:r>
              <a:rPr kumimoji="0" lang="ru-RU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Краскела-Уоллиса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: для оценки различий зарплат между несколькими ИТ-кластерами.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Ранговая корреляция </a:t>
            </a:r>
            <a:r>
              <a:rPr kumimoji="0" lang="ru-RU" sz="1200" b="1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Спирмена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: для оценки связи признаков с зарплатой</a:t>
            </a:r>
          </a:p>
        </p:txBody>
      </p:sp>
      <p:sp>
        <p:nvSpPr>
          <p:cNvPr id="30" name="Google Shape;150;p27">
            <a:extLst>
              <a:ext uri="{FF2B5EF4-FFF2-40B4-BE49-F238E27FC236}">
                <a16:creationId xmlns:a16="http://schemas.microsoft.com/office/drawing/2014/main" id="{82F42E38-BC2C-4652-80E0-4064E29253E3}"/>
              </a:ext>
            </a:extLst>
          </p:cNvPr>
          <p:cNvSpPr/>
          <p:nvPr/>
        </p:nvSpPr>
        <p:spPr>
          <a:xfrm>
            <a:off x="835195" y="3901712"/>
            <a:ext cx="7319282" cy="10705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" name="Google Shape;150;p27">
            <a:extLst>
              <a:ext uri="{FF2B5EF4-FFF2-40B4-BE49-F238E27FC236}">
                <a16:creationId xmlns:a16="http://schemas.microsoft.com/office/drawing/2014/main" id="{5D5F4D8B-260A-4D42-B6CE-C0BA08145258}"/>
              </a:ext>
            </a:extLst>
          </p:cNvPr>
          <p:cNvSpPr/>
          <p:nvPr/>
        </p:nvSpPr>
        <p:spPr>
          <a:xfrm>
            <a:off x="788814" y="3735979"/>
            <a:ext cx="7365664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Анализ текстов и оценка «цены» навыков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A8A25B-A8FA-46BC-8DC2-A71BA8119E52}"/>
              </a:ext>
            </a:extLst>
          </p:cNvPr>
          <p:cNvSpPr txBox="1"/>
          <p:nvPr/>
        </p:nvSpPr>
        <p:spPr>
          <a:xfrm>
            <a:off x="963030" y="3948337"/>
            <a:ext cx="71914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Извлечение упоминаний ИТ- и ИИ-компетенций из текстов вакансий с помощью регулярных выражений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Расчет частоты встречаемости и медианной зарплаты для каждого навыка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Оценка корреляции между популярностью навыка и его «ценой» на рынке</a:t>
            </a:r>
          </a:p>
        </p:txBody>
      </p:sp>
    </p:spTree>
    <p:extLst>
      <p:ext uri="{BB962C8B-B14F-4D97-AF65-F5344CB8AC3E}">
        <p14:creationId xmlns:p14="http://schemas.microsoft.com/office/powerpoint/2010/main" val="4067496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/>
        </p:nvSpPr>
        <p:spPr>
          <a:xfrm>
            <a:off x="257174" y="300038"/>
            <a:ext cx="7575947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МЕТОДОЛОГИЯ РАБОТЫ: СБОР ДАННЫХ</a:t>
            </a:r>
          </a:p>
        </p:txBody>
      </p:sp>
      <p:sp>
        <p:nvSpPr>
          <p:cNvPr id="17" name="Google Shape;203;p30">
            <a:extLst>
              <a:ext uri="{FF2B5EF4-FFF2-40B4-BE49-F238E27FC236}">
                <a16:creationId xmlns:a16="http://schemas.microsoft.com/office/drawing/2014/main" id="{81D270A1-D959-45FC-A5B0-7F0166C2FD9B}"/>
              </a:ext>
            </a:extLst>
          </p:cNvPr>
          <p:cNvSpPr/>
          <p:nvPr/>
        </p:nvSpPr>
        <p:spPr>
          <a:xfrm>
            <a:off x="257173" y="2656635"/>
            <a:ext cx="4074984" cy="234606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Данные с </a:t>
            </a:r>
            <a:r>
              <a:rPr lang="ru-RU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Хабр</a:t>
            </a: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и </a:t>
            </a:r>
            <a:r>
              <a:rPr lang="en-US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Rabota.ru</a:t>
            </a: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собирались с помощью инструментов веб-</a:t>
            </a:r>
            <a:r>
              <a:rPr lang="ru-RU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скрапинга</a:t>
            </a: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и веб-</a:t>
            </a:r>
            <a:r>
              <a:rPr lang="ru-RU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парсинга</a:t>
            </a: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Selenium, Beautiful Soup)</a:t>
            </a:r>
            <a:endParaRPr lang="ru-RU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Собирались фрагменты, отвечающие за структуру вакансии: заголовок, навыки, зарплата, условия работы, данные о компании</a:t>
            </a:r>
          </a:p>
        </p:txBody>
      </p:sp>
      <p:sp>
        <p:nvSpPr>
          <p:cNvPr id="18" name="Google Shape;150;p27">
            <a:extLst>
              <a:ext uri="{FF2B5EF4-FFF2-40B4-BE49-F238E27FC236}">
                <a16:creationId xmlns:a16="http://schemas.microsoft.com/office/drawing/2014/main" id="{952C9EAF-8B94-4D02-B04A-09F41B2201B1}"/>
              </a:ext>
            </a:extLst>
          </p:cNvPr>
          <p:cNvSpPr/>
          <p:nvPr/>
        </p:nvSpPr>
        <p:spPr>
          <a:xfrm>
            <a:off x="189554" y="2571750"/>
            <a:ext cx="4142603" cy="45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2. АВТОМАТИЗИРОВАННЫЙ СБОР ДАННЫХ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" name="Google Shape;203;p30">
            <a:extLst>
              <a:ext uri="{FF2B5EF4-FFF2-40B4-BE49-F238E27FC236}">
                <a16:creationId xmlns:a16="http://schemas.microsoft.com/office/drawing/2014/main" id="{D4AEB759-A43B-4F11-9D84-12FF7C6C7C00}"/>
              </a:ext>
            </a:extLst>
          </p:cNvPr>
          <p:cNvSpPr/>
          <p:nvPr/>
        </p:nvSpPr>
        <p:spPr>
          <a:xfrm>
            <a:off x="238538" y="940867"/>
            <a:ext cx="4074984" cy="146683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Работа России предоставляет открытые данные ИТ-вакансий РФ за 2026 год</a:t>
            </a: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Была проведена ручная очистка </a:t>
            </a:r>
            <a:r>
              <a:rPr lang="ru-RU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датасета</a:t>
            </a: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от нецелевых ролей и </a:t>
            </a:r>
            <a:r>
              <a:rPr lang="ru-RU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профобластей</a:t>
            </a:r>
            <a:endParaRPr lang="ru-RU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" name="Google Shape;150;p27">
            <a:extLst>
              <a:ext uri="{FF2B5EF4-FFF2-40B4-BE49-F238E27FC236}">
                <a16:creationId xmlns:a16="http://schemas.microsoft.com/office/drawing/2014/main" id="{92957690-347C-4603-811E-C1FBB901AA8D}"/>
              </a:ext>
            </a:extLst>
          </p:cNvPr>
          <p:cNvSpPr/>
          <p:nvPr/>
        </p:nvSpPr>
        <p:spPr>
          <a:xfrm>
            <a:off x="170918" y="855982"/>
            <a:ext cx="4142603" cy="45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1. ИСПОЛЬЗОВАНИЕ ОТКРЫТЫХ ДАННЫХ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Google Shape;203;p30">
            <a:extLst>
              <a:ext uri="{FF2B5EF4-FFF2-40B4-BE49-F238E27FC236}">
                <a16:creationId xmlns:a16="http://schemas.microsoft.com/office/drawing/2014/main" id="{ECFFE908-64BF-4443-8D71-BCFE4BCF5292}"/>
              </a:ext>
            </a:extLst>
          </p:cNvPr>
          <p:cNvSpPr/>
          <p:nvPr/>
        </p:nvSpPr>
        <p:spPr>
          <a:xfrm>
            <a:off x="4989442" y="940868"/>
            <a:ext cx="3965003" cy="407203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Итого: </a:t>
            </a:r>
            <a:r>
              <a:rPr lang="ru-RU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2 660 </a:t>
            </a: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вакансий ИТ-специалистов РФ за 2026 год (</a:t>
            </a:r>
            <a:r>
              <a:rPr lang="ru-RU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2547 </a:t>
            </a: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после удаления дубликатов)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Три источника: </a:t>
            </a:r>
            <a:r>
              <a:rPr lang="ru-RU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Habr</a:t>
            </a: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ru-RU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Career</a:t>
            </a: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Rabota.ru, «Работа России»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70 ИТ-специализаций и 10 ИТ-направлений;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80 регионов и 9 ФО (включая ГФЗ);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Зарплата, грейд, компания, отрасль, навыки, образование, локация, условия работы </a:t>
            </a:r>
          </a:p>
        </p:txBody>
      </p:sp>
      <p:sp>
        <p:nvSpPr>
          <p:cNvPr id="24" name="Google Shape;150;p27">
            <a:extLst>
              <a:ext uri="{FF2B5EF4-FFF2-40B4-BE49-F238E27FC236}">
                <a16:creationId xmlns:a16="http://schemas.microsoft.com/office/drawing/2014/main" id="{56961413-34F1-411C-9E5F-6DC56A3C898F}"/>
              </a:ext>
            </a:extLst>
          </p:cNvPr>
          <p:cNvSpPr/>
          <p:nvPr/>
        </p:nvSpPr>
        <p:spPr>
          <a:xfrm>
            <a:off x="4900019" y="875313"/>
            <a:ext cx="4074984" cy="56166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ХАРАКТЕРИСТИКИ СОБРАННОГО ДАТАСЕТА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" name="Стрелка: вправо 24">
            <a:extLst>
              <a:ext uri="{FF2B5EF4-FFF2-40B4-BE49-F238E27FC236}">
                <a16:creationId xmlns:a16="http://schemas.microsoft.com/office/drawing/2014/main" id="{F9584659-7E6C-44EA-838C-B975BA7B4D29}"/>
              </a:ext>
            </a:extLst>
          </p:cNvPr>
          <p:cNvSpPr/>
          <p:nvPr/>
        </p:nvSpPr>
        <p:spPr>
          <a:xfrm>
            <a:off x="4458731" y="1587162"/>
            <a:ext cx="432626" cy="223133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7E6D0E-D0A2-4E9C-805F-4687F653EB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052"/>
          <a:stretch/>
        </p:blipFill>
        <p:spPr>
          <a:xfrm>
            <a:off x="224286" y="752527"/>
            <a:ext cx="4320766" cy="2043846"/>
          </a:xfrm>
          <a:prstGeom prst="roundRect">
            <a:avLst/>
          </a:prstGeom>
          <a:ln>
            <a:solidFill>
              <a:srgbClr val="0B2C69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967D76-19C2-43FC-80BB-DD6014A6AB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671" r="704"/>
          <a:stretch/>
        </p:blipFill>
        <p:spPr>
          <a:xfrm>
            <a:off x="224286" y="2834351"/>
            <a:ext cx="4320768" cy="2229355"/>
          </a:xfrm>
          <a:prstGeom prst="roundRect">
            <a:avLst/>
          </a:prstGeom>
          <a:ln>
            <a:solidFill>
              <a:srgbClr val="0B2C69"/>
            </a:solidFill>
          </a:ln>
        </p:spPr>
      </p:pic>
      <p:sp>
        <p:nvSpPr>
          <p:cNvPr id="14" name="Google Shape;203;p30">
            <a:extLst>
              <a:ext uri="{FF2B5EF4-FFF2-40B4-BE49-F238E27FC236}">
                <a16:creationId xmlns:a16="http://schemas.microsoft.com/office/drawing/2014/main" id="{A4F15256-AAD3-449C-9A5A-C00B1A7D8986}"/>
              </a:ext>
            </a:extLst>
          </p:cNvPr>
          <p:cNvSpPr/>
          <p:nvPr/>
        </p:nvSpPr>
        <p:spPr>
          <a:xfrm>
            <a:off x="4844730" y="842518"/>
            <a:ext cx="4074984" cy="42211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11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Объектом анализа в данной работе выступают </a:t>
            </a:r>
            <a:r>
              <a:rPr lang="ru-RU" sz="11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зарплатные предложения работодателей</a:t>
            </a:r>
            <a:r>
              <a:rPr lang="ru-RU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указанные в вакансиях</a:t>
            </a: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11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9 из 10 данных по зарплате </a:t>
            </a:r>
            <a:r>
              <a:rPr lang="ru-RU" sz="11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представлены полной вилкой</a:t>
            </a: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11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Данные по зарплатам были агрегированы в переменную </a:t>
            </a:r>
            <a:r>
              <a:rPr lang="en-US" sz="1100" b="1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salary_avg</a:t>
            </a:r>
            <a:r>
              <a:rPr lang="ru-RU" sz="11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ru-RU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как агрегированное значение зарплатного предложения по каждой вакансии</a:t>
            </a: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11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«Классическое»</a:t>
            </a:r>
            <a:r>
              <a:rPr lang="ru-RU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распределение зарплат с длинным «хвостом» вправо</a:t>
            </a: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11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Среднее – </a:t>
            </a:r>
            <a:r>
              <a:rPr lang="ru-RU" sz="11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127 тыс</a:t>
            </a:r>
            <a:r>
              <a:rPr lang="ru-RU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</a:t>
            </a:r>
            <a:r>
              <a:rPr lang="en-US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VS </a:t>
            </a:r>
            <a:r>
              <a:rPr lang="ru-RU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Медиана – </a:t>
            </a:r>
            <a:r>
              <a:rPr lang="ru-RU" sz="11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85 тыс. </a:t>
            </a:r>
            <a:r>
              <a:rPr lang="ru-RU" sz="1100" b="1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руб</a:t>
            </a:r>
            <a:endParaRPr lang="ru-RU" sz="11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11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Разброс зарплат на ИТ-рынке от 17 500 до 612 000 </a:t>
            </a:r>
            <a:r>
              <a:rPr lang="ru-RU" sz="1100" b="1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руб</a:t>
            </a:r>
            <a:endParaRPr lang="ru-RU" sz="11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11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Выбросы (около 4%) – зарплаты </a:t>
            </a:r>
            <a:r>
              <a:rPr lang="en-US" sz="11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LEAD</a:t>
            </a:r>
            <a:r>
              <a:rPr lang="ru-RU" sz="1100" b="1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ов</a:t>
            </a:r>
            <a:endParaRPr lang="ru-RU" sz="1100" b="1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1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" name="Google Shape;150;p27">
            <a:extLst>
              <a:ext uri="{FF2B5EF4-FFF2-40B4-BE49-F238E27FC236}">
                <a16:creationId xmlns:a16="http://schemas.microsoft.com/office/drawing/2014/main" id="{C0A1F040-8543-475E-9F36-9565E80F4AB9}"/>
              </a:ext>
            </a:extLst>
          </p:cNvPr>
          <p:cNvSpPr/>
          <p:nvPr/>
        </p:nvSpPr>
        <p:spPr>
          <a:xfrm>
            <a:off x="4777111" y="757633"/>
            <a:ext cx="4142603" cy="45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ОПИСАНИЕ ЦЕЛЕВОЙ ПЕРЕМЕННОЙ</a:t>
            </a:r>
            <a:endParaRPr kumimoji="0" lang="ru-RU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" name="Google Shape;149;p27">
            <a:extLst>
              <a:ext uri="{FF2B5EF4-FFF2-40B4-BE49-F238E27FC236}">
                <a16:creationId xmlns:a16="http://schemas.microsoft.com/office/drawing/2014/main" id="{35A8F2B1-EF41-41E5-AAA6-F3CB03D5AC10}"/>
              </a:ext>
            </a:extLst>
          </p:cNvPr>
          <p:cNvSpPr txBox="1"/>
          <p:nvPr/>
        </p:nvSpPr>
        <p:spPr>
          <a:xfrm>
            <a:off x="257174" y="101634"/>
            <a:ext cx="7575947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ЦЕЛЕВАЯ ПЕРЕМЕННАЯ: ЗАРПЛАТА</a:t>
            </a:r>
          </a:p>
        </p:txBody>
      </p:sp>
    </p:spTree>
    <p:extLst>
      <p:ext uri="{BB962C8B-B14F-4D97-AF65-F5344CB8AC3E}">
        <p14:creationId xmlns:p14="http://schemas.microsoft.com/office/powerpoint/2010/main" val="17937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3;p30">
            <a:extLst>
              <a:ext uri="{FF2B5EF4-FFF2-40B4-BE49-F238E27FC236}">
                <a16:creationId xmlns:a16="http://schemas.microsoft.com/office/drawing/2014/main" id="{4661F90B-0A70-4734-9B31-FAA65EC9877A}"/>
              </a:ext>
            </a:extLst>
          </p:cNvPr>
          <p:cNvSpPr/>
          <p:nvPr/>
        </p:nvSpPr>
        <p:spPr>
          <a:xfrm>
            <a:off x="347959" y="426570"/>
            <a:ext cx="2662280" cy="14922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1" name="Google Shape;138;p26">
            <a:extLst>
              <a:ext uri="{FF2B5EF4-FFF2-40B4-BE49-F238E27FC236}">
                <a16:creationId xmlns:a16="http://schemas.microsoft.com/office/drawing/2014/main" id="{03E17E91-E593-4948-9B94-88AD7F48EEAB}"/>
              </a:ext>
            </a:extLst>
          </p:cNvPr>
          <p:cNvSpPr txBox="1"/>
          <p:nvPr/>
        </p:nvSpPr>
        <p:spPr>
          <a:xfrm>
            <a:off x="257175" y="29695"/>
            <a:ext cx="798073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СТРУКТУРА ВЫБОРКИ: ПРИЗНАКИ ВАКАНСИЙ </a:t>
            </a: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C62F89B4-C32E-4DEB-9545-5D6F2368BA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0632181"/>
              </p:ext>
            </p:extLst>
          </p:nvPr>
        </p:nvGraphicFramePr>
        <p:xfrm>
          <a:off x="372329" y="531628"/>
          <a:ext cx="2637910" cy="1322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Google Shape;139;p26">
            <a:extLst>
              <a:ext uri="{FF2B5EF4-FFF2-40B4-BE49-F238E27FC236}">
                <a16:creationId xmlns:a16="http://schemas.microsoft.com/office/drawing/2014/main" id="{EA5CD989-5406-4626-940F-DFF5BDE0E6A6}"/>
              </a:ext>
            </a:extLst>
          </p:cNvPr>
          <p:cNvSpPr/>
          <p:nvPr/>
        </p:nvSpPr>
        <p:spPr>
          <a:xfrm>
            <a:off x="254197" y="336525"/>
            <a:ext cx="360891" cy="360891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203;p30">
            <a:extLst>
              <a:ext uri="{FF2B5EF4-FFF2-40B4-BE49-F238E27FC236}">
                <a16:creationId xmlns:a16="http://schemas.microsoft.com/office/drawing/2014/main" id="{3F3E2CC0-333B-46D2-9E85-A477B4A9EA7F}"/>
              </a:ext>
            </a:extLst>
          </p:cNvPr>
          <p:cNvSpPr/>
          <p:nvPr/>
        </p:nvSpPr>
        <p:spPr>
          <a:xfrm>
            <a:off x="3381124" y="426570"/>
            <a:ext cx="2662280" cy="14922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5" name="Диаграмма 24">
            <a:extLst>
              <a:ext uri="{FF2B5EF4-FFF2-40B4-BE49-F238E27FC236}">
                <a16:creationId xmlns:a16="http://schemas.microsoft.com/office/drawing/2014/main" id="{8B181D8D-589F-4245-ACA7-75A9434099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5353706"/>
              </p:ext>
            </p:extLst>
          </p:nvPr>
        </p:nvGraphicFramePr>
        <p:xfrm>
          <a:off x="3300298" y="428821"/>
          <a:ext cx="2637910" cy="142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Google Shape;139;p26">
            <a:extLst>
              <a:ext uri="{FF2B5EF4-FFF2-40B4-BE49-F238E27FC236}">
                <a16:creationId xmlns:a16="http://schemas.microsoft.com/office/drawing/2014/main" id="{9562E068-0E7A-4893-B903-5E3F67DB3A4F}"/>
              </a:ext>
            </a:extLst>
          </p:cNvPr>
          <p:cNvSpPr/>
          <p:nvPr/>
        </p:nvSpPr>
        <p:spPr>
          <a:xfrm>
            <a:off x="3287362" y="336525"/>
            <a:ext cx="360891" cy="360891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2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203;p30">
            <a:extLst>
              <a:ext uri="{FF2B5EF4-FFF2-40B4-BE49-F238E27FC236}">
                <a16:creationId xmlns:a16="http://schemas.microsoft.com/office/drawing/2014/main" id="{98BC3EA6-E1D5-443D-807A-9748F01D8683}"/>
              </a:ext>
            </a:extLst>
          </p:cNvPr>
          <p:cNvSpPr/>
          <p:nvPr/>
        </p:nvSpPr>
        <p:spPr>
          <a:xfrm>
            <a:off x="6402855" y="426570"/>
            <a:ext cx="2662280" cy="14922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8" name="Диаграмма 27">
            <a:extLst>
              <a:ext uri="{FF2B5EF4-FFF2-40B4-BE49-F238E27FC236}">
                <a16:creationId xmlns:a16="http://schemas.microsoft.com/office/drawing/2014/main" id="{03F01685-DFCC-4FF6-BB13-64131751E2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190141"/>
              </p:ext>
            </p:extLst>
          </p:nvPr>
        </p:nvGraphicFramePr>
        <p:xfrm>
          <a:off x="6322029" y="428821"/>
          <a:ext cx="2637910" cy="142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9" name="Google Shape;203;p30">
            <a:extLst>
              <a:ext uri="{FF2B5EF4-FFF2-40B4-BE49-F238E27FC236}">
                <a16:creationId xmlns:a16="http://schemas.microsoft.com/office/drawing/2014/main" id="{CF829260-D124-443A-8A6B-3F6B4C032CA1}"/>
              </a:ext>
            </a:extLst>
          </p:cNvPr>
          <p:cNvSpPr/>
          <p:nvPr/>
        </p:nvSpPr>
        <p:spPr>
          <a:xfrm>
            <a:off x="347959" y="1972475"/>
            <a:ext cx="2662280" cy="14922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40" name="Диаграмма 39">
            <a:extLst>
              <a:ext uri="{FF2B5EF4-FFF2-40B4-BE49-F238E27FC236}">
                <a16:creationId xmlns:a16="http://schemas.microsoft.com/office/drawing/2014/main" id="{E77BAC42-BDCF-41C7-85A3-0215FB256F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2337452"/>
              </p:ext>
            </p:extLst>
          </p:nvPr>
        </p:nvGraphicFramePr>
        <p:xfrm>
          <a:off x="372329" y="2153275"/>
          <a:ext cx="2637910" cy="1247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1" name="Google Shape;139;p26">
            <a:extLst>
              <a:ext uri="{FF2B5EF4-FFF2-40B4-BE49-F238E27FC236}">
                <a16:creationId xmlns:a16="http://schemas.microsoft.com/office/drawing/2014/main" id="{B1B9A971-E18F-43D5-9232-63D190842D31}"/>
              </a:ext>
            </a:extLst>
          </p:cNvPr>
          <p:cNvSpPr/>
          <p:nvPr/>
        </p:nvSpPr>
        <p:spPr>
          <a:xfrm>
            <a:off x="254197" y="1882430"/>
            <a:ext cx="360891" cy="360891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4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Google Shape;203;p30">
            <a:extLst>
              <a:ext uri="{FF2B5EF4-FFF2-40B4-BE49-F238E27FC236}">
                <a16:creationId xmlns:a16="http://schemas.microsoft.com/office/drawing/2014/main" id="{0B8CEC49-AC88-4528-9B5C-D7E0AEA52333}"/>
              </a:ext>
            </a:extLst>
          </p:cNvPr>
          <p:cNvSpPr/>
          <p:nvPr/>
        </p:nvSpPr>
        <p:spPr>
          <a:xfrm>
            <a:off x="3381124" y="1972475"/>
            <a:ext cx="2662280" cy="14922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43" name="Диаграмма 42">
            <a:extLst>
              <a:ext uri="{FF2B5EF4-FFF2-40B4-BE49-F238E27FC236}">
                <a16:creationId xmlns:a16="http://schemas.microsoft.com/office/drawing/2014/main" id="{61A6870F-12FF-431D-B574-CCC2B1AD70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7433069"/>
              </p:ext>
            </p:extLst>
          </p:nvPr>
        </p:nvGraphicFramePr>
        <p:xfrm>
          <a:off x="3300298" y="2153275"/>
          <a:ext cx="2637910" cy="12472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4" name="Google Shape;139;p26">
            <a:extLst>
              <a:ext uri="{FF2B5EF4-FFF2-40B4-BE49-F238E27FC236}">
                <a16:creationId xmlns:a16="http://schemas.microsoft.com/office/drawing/2014/main" id="{48614CBE-A471-4612-A87C-3108F555B799}"/>
              </a:ext>
            </a:extLst>
          </p:cNvPr>
          <p:cNvSpPr/>
          <p:nvPr/>
        </p:nvSpPr>
        <p:spPr>
          <a:xfrm>
            <a:off x="3287362" y="1882430"/>
            <a:ext cx="360891" cy="360891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5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" name="Google Shape;203;p30">
            <a:extLst>
              <a:ext uri="{FF2B5EF4-FFF2-40B4-BE49-F238E27FC236}">
                <a16:creationId xmlns:a16="http://schemas.microsoft.com/office/drawing/2014/main" id="{5DF500B2-3AC3-4267-B725-5FB9EEA8D722}"/>
              </a:ext>
            </a:extLst>
          </p:cNvPr>
          <p:cNvSpPr/>
          <p:nvPr/>
        </p:nvSpPr>
        <p:spPr>
          <a:xfrm>
            <a:off x="6402855" y="1972475"/>
            <a:ext cx="2662280" cy="14922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46" name="Диаграмма 45">
            <a:extLst>
              <a:ext uri="{FF2B5EF4-FFF2-40B4-BE49-F238E27FC236}">
                <a16:creationId xmlns:a16="http://schemas.microsoft.com/office/drawing/2014/main" id="{BC3222F2-BA13-46C6-AA56-3ADEF90937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9510787"/>
              </p:ext>
            </p:extLst>
          </p:nvPr>
        </p:nvGraphicFramePr>
        <p:xfrm>
          <a:off x="6322029" y="1974726"/>
          <a:ext cx="2637910" cy="142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7" name="Google Shape;139;p26">
            <a:extLst>
              <a:ext uri="{FF2B5EF4-FFF2-40B4-BE49-F238E27FC236}">
                <a16:creationId xmlns:a16="http://schemas.microsoft.com/office/drawing/2014/main" id="{87BAF25C-AEBC-463E-BF62-13CDBBD14A9C}"/>
              </a:ext>
            </a:extLst>
          </p:cNvPr>
          <p:cNvSpPr/>
          <p:nvPr/>
        </p:nvSpPr>
        <p:spPr>
          <a:xfrm>
            <a:off x="6309093" y="1882430"/>
            <a:ext cx="360891" cy="360891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sz="1100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6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" name="Google Shape;203;p30">
            <a:extLst>
              <a:ext uri="{FF2B5EF4-FFF2-40B4-BE49-F238E27FC236}">
                <a16:creationId xmlns:a16="http://schemas.microsoft.com/office/drawing/2014/main" id="{1F1F7094-BEE9-4180-A12E-9F7A05343CEE}"/>
              </a:ext>
            </a:extLst>
          </p:cNvPr>
          <p:cNvSpPr/>
          <p:nvPr/>
        </p:nvSpPr>
        <p:spPr>
          <a:xfrm>
            <a:off x="347959" y="3510810"/>
            <a:ext cx="2662280" cy="14922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49" name="Диаграмма 48">
            <a:extLst>
              <a:ext uri="{FF2B5EF4-FFF2-40B4-BE49-F238E27FC236}">
                <a16:creationId xmlns:a16="http://schemas.microsoft.com/office/drawing/2014/main" id="{C69B0D51-0563-4347-84D0-D524E14FD2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9937239"/>
              </p:ext>
            </p:extLst>
          </p:nvPr>
        </p:nvGraphicFramePr>
        <p:xfrm>
          <a:off x="372329" y="3706838"/>
          <a:ext cx="2637910" cy="1231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0" name="Google Shape;139;p26">
            <a:extLst>
              <a:ext uri="{FF2B5EF4-FFF2-40B4-BE49-F238E27FC236}">
                <a16:creationId xmlns:a16="http://schemas.microsoft.com/office/drawing/2014/main" id="{B622DD57-6C8B-45C4-8055-5AC794C566CB}"/>
              </a:ext>
            </a:extLst>
          </p:cNvPr>
          <p:cNvSpPr/>
          <p:nvPr/>
        </p:nvSpPr>
        <p:spPr>
          <a:xfrm>
            <a:off x="254197" y="3420765"/>
            <a:ext cx="360891" cy="360891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7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1" name="Google Shape;203;p30">
            <a:extLst>
              <a:ext uri="{FF2B5EF4-FFF2-40B4-BE49-F238E27FC236}">
                <a16:creationId xmlns:a16="http://schemas.microsoft.com/office/drawing/2014/main" id="{CF9C952F-63C2-4C6E-92B0-45CBE3A4D053}"/>
              </a:ext>
            </a:extLst>
          </p:cNvPr>
          <p:cNvSpPr/>
          <p:nvPr/>
        </p:nvSpPr>
        <p:spPr>
          <a:xfrm>
            <a:off x="3381124" y="3510810"/>
            <a:ext cx="2662280" cy="14922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52" name="Диаграмма 51">
            <a:extLst>
              <a:ext uri="{FF2B5EF4-FFF2-40B4-BE49-F238E27FC236}">
                <a16:creationId xmlns:a16="http://schemas.microsoft.com/office/drawing/2014/main" id="{723F82FE-A76B-4573-87B0-AA93D52A07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6055285"/>
              </p:ext>
            </p:extLst>
          </p:nvPr>
        </p:nvGraphicFramePr>
        <p:xfrm>
          <a:off x="3300298" y="3513061"/>
          <a:ext cx="2637910" cy="142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3" name="Google Shape;139;p26">
            <a:extLst>
              <a:ext uri="{FF2B5EF4-FFF2-40B4-BE49-F238E27FC236}">
                <a16:creationId xmlns:a16="http://schemas.microsoft.com/office/drawing/2014/main" id="{25735B1A-C2C6-4DE1-9AEE-34C68FDDD586}"/>
              </a:ext>
            </a:extLst>
          </p:cNvPr>
          <p:cNvSpPr/>
          <p:nvPr/>
        </p:nvSpPr>
        <p:spPr>
          <a:xfrm>
            <a:off x="3287362" y="3420765"/>
            <a:ext cx="360891" cy="360891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sz="1100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8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4" name="Google Shape;203;p30">
            <a:extLst>
              <a:ext uri="{FF2B5EF4-FFF2-40B4-BE49-F238E27FC236}">
                <a16:creationId xmlns:a16="http://schemas.microsoft.com/office/drawing/2014/main" id="{978729A3-E887-418E-8D8E-CD764E55A5B5}"/>
              </a:ext>
            </a:extLst>
          </p:cNvPr>
          <p:cNvSpPr/>
          <p:nvPr/>
        </p:nvSpPr>
        <p:spPr>
          <a:xfrm>
            <a:off x="6402855" y="3510810"/>
            <a:ext cx="2662280" cy="149227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55" name="Диаграмма 54">
            <a:extLst>
              <a:ext uri="{FF2B5EF4-FFF2-40B4-BE49-F238E27FC236}">
                <a16:creationId xmlns:a16="http://schemas.microsoft.com/office/drawing/2014/main" id="{09F79848-B8D7-4C98-BC45-A16C12FECD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021255"/>
              </p:ext>
            </p:extLst>
          </p:nvPr>
        </p:nvGraphicFramePr>
        <p:xfrm>
          <a:off x="6322029" y="3513061"/>
          <a:ext cx="2637910" cy="1425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56" name="Google Shape;139;p26">
            <a:extLst>
              <a:ext uri="{FF2B5EF4-FFF2-40B4-BE49-F238E27FC236}">
                <a16:creationId xmlns:a16="http://schemas.microsoft.com/office/drawing/2014/main" id="{1BDFF65C-BC4B-4879-82BE-15AB3E7F796C}"/>
              </a:ext>
            </a:extLst>
          </p:cNvPr>
          <p:cNvSpPr/>
          <p:nvPr/>
        </p:nvSpPr>
        <p:spPr>
          <a:xfrm>
            <a:off x="6309093" y="3420765"/>
            <a:ext cx="360891" cy="360891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7" name="Google Shape;150;p27">
            <a:extLst>
              <a:ext uri="{FF2B5EF4-FFF2-40B4-BE49-F238E27FC236}">
                <a16:creationId xmlns:a16="http://schemas.microsoft.com/office/drawing/2014/main" id="{75AF1EE2-AE54-4D8C-99B4-4C0655209E57}"/>
              </a:ext>
            </a:extLst>
          </p:cNvPr>
          <p:cNvSpPr/>
          <p:nvPr/>
        </p:nvSpPr>
        <p:spPr>
          <a:xfrm>
            <a:off x="7096663" y="399040"/>
            <a:ext cx="1507635" cy="20122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ОТРАСЛЬ РАБОТОДАТЕЛЯ</a:t>
            </a:r>
          </a:p>
        </p:txBody>
      </p:sp>
      <p:sp>
        <p:nvSpPr>
          <p:cNvPr id="29" name="Google Shape;139;p26">
            <a:extLst>
              <a:ext uri="{FF2B5EF4-FFF2-40B4-BE49-F238E27FC236}">
                <a16:creationId xmlns:a16="http://schemas.microsoft.com/office/drawing/2014/main" id="{B76828E1-BAF8-4E4A-AECD-CD22E430FDD2}"/>
              </a:ext>
            </a:extLst>
          </p:cNvPr>
          <p:cNvSpPr/>
          <p:nvPr/>
        </p:nvSpPr>
        <p:spPr>
          <a:xfrm>
            <a:off x="6309093" y="336525"/>
            <a:ext cx="360891" cy="360891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3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8" name="Google Shape;150;p27">
            <a:extLst>
              <a:ext uri="{FF2B5EF4-FFF2-40B4-BE49-F238E27FC236}">
                <a16:creationId xmlns:a16="http://schemas.microsoft.com/office/drawing/2014/main" id="{9FE527F6-F2AB-486B-A139-91DFA562477D}"/>
              </a:ext>
            </a:extLst>
          </p:cNvPr>
          <p:cNvSpPr/>
          <p:nvPr/>
        </p:nvSpPr>
        <p:spPr>
          <a:xfrm>
            <a:off x="4187083" y="428821"/>
            <a:ext cx="1108161" cy="1664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СПЕЦИАЛИЗАЦИЯ</a:t>
            </a:r>
          </a:p>
        </p:txBody>
      </p:sp>
      <p:sp>
        <p:nvSpPr>
          <p:cNvPr id="59" name="Google Shape;150;p27">
            <a:extLst>
              <a:ext uri="{FF2B5EF4-FFF2-40B4-BE49-F238E27FC236}">
                <a16:creationId xmlns:a16="http://schemas.microsoft.com/office/drawing/2014/main" id="{88EE49A0-4F90-43A1-99FE-B75853A82866}"/>
              </a:ext>
            </a:extLst>
          </p:cNvPr>
          <p:cNvSpPr/>
          <p:nvPr/>
        </p:nvSpPr>
        <p:spPr>
          <a:xfrm>
            <a:off x="1107118" y="421970"/>
            <a:ext cx="1108161" cy="1664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ИТ-КЛАСТЕР</a:t>
            </a:r>
          </a:p>
        </p:txBody>
      </p:sp>
      <p:sp>
        <p:nvSpPr>
          <p:cNvPr id="60" name="Google Shape;150;p27">
            <a:extLst>
              <a:ext uri="{FF2B5EF4-FFF2-40B4-BE49-F238E27FC236}">
                <a16:creationId xmlns:a16="http://schemas.microsoft.com/office/drawing/2014/main" id="{4B08017D-B916-4179-8655-D01520464964}"/>
              </a:ext>
            </a:extLst>
          </p:cNvPr>
          <p:cNvSpPr/>
          <p:nvPr/>
        </p:nvSpPr>
        <p:spPr>
          <a:xfrm>
            <a:off x="1091169" y="1979669"/>
            <a:ext cx="1108161" cy="19266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9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ГРЕЙД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1" name="Google Shape;150;p27">
            <a:extLst>
              <a:ext uri="{FF2B5EF4-FFF2-40B4-BE49-F238E27FC236}">
                <a16:creationId xmlns:a16="http://schemas.microsoft.com/office/drawing/2014/main" id="{C434A791-F425-4599-8DDE-B999FF900DFF}"/>
              </a:ext>
            </a:extLst>
          </p:cNvPr>
          <p:cNvSpPr/>
          <p:nvPr/>
        </p:nvSpPr>
        <p:spPr>
          <a:xfrm>
            <a:off x="4187083" y="1975360"/>
            <a:ext cx="1160440" cy="20283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РАЗМЕР КОМПАНИИ</a:t>
            </a:r>
          </a:p>
        </p:txBody>
      </p:sp>
      <p:sp>
        <p:nvSpPr>
          <p:cNvPr id="62" name="Google Shape;150;p27">
            <a:extLst>
              <a:ext uri="{FF2B5EF4-FFF2-40B4-BE49-F238E27FC236}">
                <a16:creationId xmlns:a16="http://schemas.microsoft.com/office/drawing/2014/main" id="{DDA46170-E4C5-4F71-A854-E3C71B41FC9A}"/>
              </a:ext>
            </a:extLst>
          </p:cNvPr>
          <p:cNvSpPr/>
          <p:nvPr/>
        </p:nvSpPr>
        <p:spPr>
          <a:xfrm>
            <a:off x="7153774" y="1954442"/>
            <a:ext cx="1450523" cy="21789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9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ФЕДЕРАЛЬНЫЙ ОКРУГ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" name="Google Shape;150;p27">
            <a:extLst>
              <a:ext uri="{FF2B5EF4-FFF2-40B4-BE49-F238E27FC236}">
                <a16:creationId xmlns:a16="http://schemas.microsoft.com/office/drawing/2014/main" id="{A9038E2A-C32D-4BA1-9CB5-0557FD3224E7}"/>
              </a:ext>
            </a:extLst>
          </p:cNvPr>
          <p:cNvSpPr/>
          <p:nvPr/>
        </p:nvSpPr>
        <p:spPr>
          <a:xfrm>
            <a:off x="1091169" y="3514172"/>
            <a:ext cx="1108161" cy="19266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9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РЕГИОНЫ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4" name="Google Shape;150;p27">
            <a:extLst>
              <a:ext uri="{FF2B5EF4-FFF2-40B4-BE49-F238E27FC236}">
                <a16:creationId xmlns:a16="http://schemas.microsoft.com/office/drawing/2014/main" id="{F4D9C00C-C272-4884-922C-EAD0623D9549}"/>
              </a:ext>
            </a:extLst>
          </p:cNvPr>
          <p:cNvSpPr/>
          <p:nvPr/>
        </p:nvSpPr>
        <p:spPr>
          <a:xfrm>
            <a:off x="4098271" y="3498433"/>
            <a:ext cx="1422147" cy="20840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9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СТУПЕНЬ ОБРАЗОВАНИЯ</a:t>
            </a:r>
          </a:p>
        </p:txBody>
      </p:sp>
      <p:sp>
        <p:nvSpPr>
          <p:cNvPr id="65" name="Google Shape;150;p27">
            <a:extLst>
              <a:ext uri="{FF2B5EF4-FFF2-40B4-BE49-F238E27FC236}">
                <a16:creationId xmlns:a16="http://schemas.microsoft.com/office/drawing/2014/main" id="{59900AEB-B205-46B0-A0C1-2F49EB6299A5}"/>
              </a:ext>
            </a:extLst>
          </p:cNvPr>
          <p:cNvSpPr/>
          <p:nvPr/>
        </p:nvSpPr>
        <p:spPr>
          <a:xfrm>
            <a:off x="6832079" y="3488945"/>
            <a:ext cx="2057723" cy="21789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9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СТУПЕНЬ ВЫСШЕГО ОБРАЗОВАНИЯ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547919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3;p30">
            <a:extLst>
              <a:ext uri="{FF2B5EF4-FFF2-40B4-BE49-F238E27FC236}">
                <a16:creationId xmlns:a16="http://schemas.microsoft.com/office/drawing/2014/main" id="{4661F90B-0A70-4734-9B31-FAA65EC9877A}"/>
              </a:ext>
            </a:extLst>
          </p:cNvPr>
          <p:cNvSpPr/>
          <p:nvPr/>
        </p:nvSpPr>
        <p:spPr>
          <a:xfrm>
            <a:off x="484940" y="1104052"/>
            <a:ext cx="4068000" cy="69747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Чем выше грейд (уровень позиции/экспертизы), тем выше зарплатное предложение по вакансии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" name="Google Shape;203;p30">
            <a:extLst>
              <a:ext uri="{FF2B5EF4-FFF2-40B4-BE49-F238E27FC236}">
                <a16:creationId xmlns:a16="http://schemas.microsoft.com/office/drawing/2014/main" id="{BCB2F8B1-0044-4390-92B0-4842CF753883}"/>
              </a:ext>
            </a:extLst>
          </p:cNvPr>
          <p:cNvSpPr/>
          <p:nvPr/>
        </p:nvSpPr>
        <p:spPr>
          <a:xfrm>
            <a:off x="4845747" y="1105200"/>
            <a:ext cx="4067959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ru-RU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</a:t>
            </a:r>
            <a:r>
              <a:rPr kumimoji="0" lang="ru-RU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бразование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не будет оказывать значимого влияние на зарплатное предложение ИТ-специалистов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" name="Google Shape;203;p30">
            <a:extLst>
              <a:ext uri="{FF2B5EF4-FFF2-40B4-BE49-F238E27FC236}">
                <a16:creationId xmlns:a16="http://schemas.microsoft.com/office/drawing/2014/main" id="{F0A54651-46C2-491A-AE34-B42D1AE9CF34}"/>
              </a:ext>
            </a:extLst>
          </p:cNvPr>
          <p:cNvSpPr/>
          <p:nvPr/>
        </p:nvSpPr>
        <p:spPr>
          <a:xfrm>
            <a:off x="480625" y="2063954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Чем выше размер компании, тем более высокое зарплатное предложение по своим вакансиям она готова предложить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" name="Google Shape;203;p30">
            <a:extLst>
              <a:ext uri="{FF2B5EF4-FFF2-40B4-BE49-F238E27FC236}">
                <a16:creationId xmlns:a16="http://schemas.microsoft.com/office/drawing/2014/main" id="{BA0853AD-AA24-4F1B-8F5C-0D1C6C3FF49D}"/>
              </a:ext>
            </a:extLst>
          </p:cNvPr>
          <p:cNvSpPr/>
          <p:nvPr/>
        </p:nvSpPr>
        <p:spPr>
          <a:xfrm>
            <a:off x="4841431" y="2063954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Уровень зарплатного предложения зависит от локации работодателя: зарплаты в Москве и Санкт-Петербурге выше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" name="Google Shape;203;p30">
            <a:extLst>
              <a:ext uri="{FF2B5EF4-FFF2-40B4-BE49-F238E27FC236}">
                <a16:creationId xmlns:a16="http://schemas.microsoft.com/office/drawing/2014/main" id="{3D3C036A-E383-41E1-9181-B440C9676768}"/>
              </a:ext>
            </a:extLst>
          </p:cNvPr>
          <p:cNvSpPr/>
          <p:nvPr/>
        </p:nvSpPr>
        <p:spPr>
          <a:xfrm>
            <a:off x="441050" y="3035264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Зарплата будет различаться между ИТ-направлениями (кластерами и ИТ-ролям)</a:t>
            </a:r>
            <a:endParaRPr kumimoji="0" lang="ru-RU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" name="Google Shape;203;p30">
            <a:extLst>
              <a:ext uri="{FF2B5EF4-FFF2-40B4-BE49-F238E27FC236}">
                <a16:creationId xmlns:a16="http://schemas.microsoft.com/office/drawing/2014/main" id="{7B580347-C8FD-4E85-AF6B-BB159736369B}"/>
              </a:ext>
            </a:extLst>
          </p:cNvPr>
          <p:cNvSpPr/>
          <p:nvPr/>
        </p:nvSpPr>
        <p:spPr>
          <a:xfrm>
            <a:off x="4841431" y="3035264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Упоминание ИИ/ML-компетенций в вакансии сопровождается более высоким зарплатным предложением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" name="Google Shape;203;p30">
            <a:extLst>
              <a:ext uri="{FF2B5EF4-FFF2-40B4-BE49-F238E27FC236}">
                <a16:creationId xmlns:a16="http://schemas.microsoft.com/office/drawing/2014/main" id="{41E66697-DBEF-4699-AC55-16063A07591A}"/>
              </a:ext>
            </a:extLst>
          </p:cNvPr>
          <p:cNvSpPr/>
          <p:nvPr/>
        </p:nvSpPr>
        <p:spPr>
          <a:xfrm>
            <a:off x="441050" y="4039448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Чем </a:t>
            </a:r>
            <a:r>
              <a:rPr kumimoji="0" lang="ru-RU" sz="1400" b="1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распространенее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навык, тем ниже зарплатное предложение по данному навыку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" name="Google Shape;203;p30">
            <a:extLst>
              <a:ext uri="{FF2B5EF4-FFF2-40B4-BE49-F238E27FC236}">
                <a16:creationId xmlns:a16="http://schemas.microsoft.com/office/drawing/2014/main" id="{B8356F45-27AC-49F0-BCA0-AE8EC050DB01}"/>
              </a:ext>
            </a:extLst>
          </p:cNvPr>
          <p:cNvSpPr/>
          <p:nvPr/>
        </p:nvSpPr>
        <p:spPr>
          <a:xfrm>
            <a:off x="4841431" y="4038300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Отрасль работодателя напрямую влияет на зарплату. Самые высокие зарплаты – в отраслях, где ИТ-продукты играют ключевую роль</a:t>
            </a: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2" name="Google Shape;139;p26">
            <a:extLst>
              <a:ext uri="{FF2B5EF4-FFF2-40B4-BE49-F238E27FC236}">
                <a16:creationId xmlns:a16="http://schemas.microsoft.com/office/drawing/2014/main" id="{1302CBFE-CCD9-43FE-A240-AB4BDFF03749}"/>
              </a:ext>
            </a:extLst>
          </p:cNvPr>
          <p:cNvSpPr/>
          <p:nvPr/>
        </p:nvSpPr>
        <p:spPr>
          <a:xfrm>
            <a:off x="330056" y="973815"/>
            <a:ext cx="292284" cy="29228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139;p26">
            <a:extLst>
              <a:ext uri="{FF2B5EF4-FFF2-40B4-BE49-F238E27FC236}">
                <a16:creationId xmlns:a16="http://schemas.microsoft.com/office/drawing/2014/main" id="{E3AB3C40-90EF-4C0B-9867-35A9C6CAF923}"/>
              </a:ext>
            </a:extLst>
          </p:cNvPr>
          <p:cNvSpPr/>
          <p:nvPr/>
        </p:nvSpPr>
        <p:spPr>
          <a:xfrm>
            <a:off x="4695289" y="973815"/>
            <a:ext cx="292284" cy="29228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2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139;p26">
            <a:extLst>
              <a:ext uri="{FF2B5EF4-FFF2-40B4-BE49-F238E27FC236}">
                <a16:creationId xmlns:a16="http://schemas.microsoft.com/office/drawing/2014/main" id="{6A168216-7D65-4132-BCB5-D728545975A9}"/>
              </a:ext>
            </a:extLst>
          </p:cNvPr>
          <p:cNvSpPr/>
          <p:nvPr/>
        </p:nvSpPr>
        <p:spPr>
          <a:xfrm>
            <a:off x="308110" y="1909267"/>
            <a:ext cx="292284" cy="284922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3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139;p26">
            <a:extLst>
              <a:ext uri="{FF2B5EF4-FFF2-40B4-BE49-F238E27FC236}">
                <a16:creationId xmlns:a16="http://schemas.microsoft.com/office/drawing/2014/main" id="{838DE0BF-90B3-4F2B-8FD0-ABE917ACC341}"/>
              </a:ext>
            </a:extLst>
          </p:cNvPr>
          <p:cNvSpPr/>
          <p:nvPr/>
        </p:nvSpPr>
        <p:spPr>
          <a:xfrm>
            <a:off x="4666028" y="1901905"/>
            <a:ext cx="292284" cy="29228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4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139;p26">
            <a:extLst>
              <a:ext uri="{FF2B5EF4-FFF2-40B4-BE49-F238E27FC236}">
                <a16:creationId xmlns:a16="http://schemas.microsoft.com/office/drawing/2014/main" id="{6B4EE915-9EDE-4612-A460-5B0CE363FB4D}"/>
              </a:ext>
            </a:extLst>
          </p:cNvPr>
          <p:cNvSpPr/>
          <p:nvPr/>
        </p:nvSpPr>
        <p:spPr>
          <a:xfrm>
            <a:off x="318270" y="2945587"/>
            <a:ext cx="292284" cy="284922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sz="1100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5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139;p26">
            <a:extLst>
              <a:ext uri="{FF2B5EF4-FFF2-40B4-BE49-F238E27FC236}">
                <a16:creationId xmlns:a16="http://schemas.microsoft.com/office/drawing/2014/main" id="{904B74EF-25AB-4E8D-9E33-38FA28DD9549}"/>
              </a:ext>
            </a:extLst>
          </p:cNvPr>
          <p:cNvSpPr/>
          <p:nvPr/>
        </p:nvSpPr>
        <p:spPr>
          <a:xfrm>
            <a:off x="4676188" y="2973125"/>
            <a:ext cx="292284" cy="29228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sz="1100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6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139;p26">
            <a:extLst>
              <a:ext uri="{FF2B5EF4-FFF2-40B4-BE49-F238E27FC236}">
                <a16:creationId xmlns:a16="http://schemas.microsoft.com/office/drawing/2014/main" id="{E41B0A58-D8A7-43E6-A504-5B31E4EE3682}"/>
              </a:ext>
            </a:extLst>
          </p:cNvPr>
          <p:cNvSpPr/>
          <p:nvPr/>
        </p:nvSpPr>
        <p:spPr>
          <a:xfrm>
            <a:off x="321582" y="3863303"/>
            <a:ext cx="292284" cy="284922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sz="1100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7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139;p26">
            <a:extLst>
              <a:ext uri="{FF2B5EF4-FFF2-40B4-BE49-F238E27FC236}">
                <a16:creationId xmlns:a16="http://schemas.microsoft.com/office/drawing/2014/main" id="{8E657966-8CB7-41A8-A753-4B8A0BE6423F}"/>
              </a:ext>
            </a:extLst>
          </p:cNvPr>
          <p:cNvSpPr/>
          <p:nvPr/>
        </p:nvSpPr>
        <p:spPr>
          <a:xfrm>
            <a:off x="4679500" y="3890841"/>
            <a:ext cx="292284" cy="29228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sz="1100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8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Google Shape;149;p27">
            <a:extLst>
              <a:ext uri="{FF2B5EF4-FFF2-40B4-BE49-F238E27FC236}">
                <a16:creationId xmlns:a16="http://schemas.microsoft.com/office/drawing/2014/main" id="{80024887-7AEA-4119-A800-8A941800FD50}"/>
              </a:ext>
            </a:extLst>
          </p:cNvPr>
          <p:cNvSpPr txBox="1"/>
          <p:nvPr/>
        </p:nvSpPr>
        <p:spPr>
          <a:xfrm>
            <a:off x="257174" y="300038"/>
            <a:ext cx="7575947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ФОРМИРОВАНИЕ ГИПОТЕЗ</a:t>
            </a:r>
          </a:p>
        </p:txBody>
      </p:sp>
    </p:spTree>
    <p:extLst>
      <p:ext uri="{BB962C8B-B14F-4D97-AF65-F5344CB8AC3E}">
        <p14:creationId xmlns:p14="http://schemas.microsoft.com/office/powerpoint/2010/main" val="642217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38;p26">
            <a:extLst>
              <a:ext uri="{FF2B5EF4-FFF2-40B4-BE49-F238E27FC236}">
                <a16:creationId xmlns:a16="http://schemas.microsoft.com/office/drawing/2014/main" id="{03E17E91-E593-4948-9B94-88AD7F48EEAB}"/>
              </a:ext>
            </a:extLst>
          </p:cNvPr>
          <p:cNvSpPr txBox="1"/>
          <p:nvPr/>
        </p:nvSpPr>
        <p:spPr>
          <a:xfrm>
            <a:off x="164410" y="56199"/>
            <a:ext cx="8886825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sym typeface="Arial"/>
              </a:rPr>
              <a:t>РАСПРЕДЕЛЕНИЕ ЗАРПЛАТ В ЗАВИСИМОСТИ ОТ ПРИЗНАКОВ ВАКАНСИИ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B79219-E547-4DC0-A152-49517362A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52" y="445294"/>
            <a:ext cx="8656102" cy="446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49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03;p30">
            <a:extLst>
              <a:ext uri="{FF2B5EF4-FFF2-40B4-BE49-F238E27FC236}">
                <a16:creationId xmlns:a16="http://schemas.microsoft.com/office/drawing/2014/main" id="{BF4656DA-433B-4FA3-8256-5140B358ACF0}"/>
              </a:ext>
            </a:extLst>
          </p:cNvPr>
          <p:cNvSpPr/>
          <p:nvPr/>
        </p:nvSpPr>
        <p:spPr>
          <a:xfrm>
            <a:off x="4628036" y="757633"/>
            <a:ext cx="4276276" cy="42211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D8D85364-9672-4CE3-B260-718464FC69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6674233"/>
              </p:ext>
            </p:extLst>
          </p:nvPr>
        </p:nvGraphicFramePr>
        <p:xfrm>
          <a:off x="4776824" y="1104595"/>
          <a:ext cx="4030675" cy="3460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Google Shape;138;p26">
            <a:extLst>
              <a:ext uri="{FF2B5EF4-FFF2-40B4-BE49-F238E27FC236}">
                <a16:creationId xmlns:a16="http://schemas.microsoft.com/office/drawing/2014/main" id="{9E6885A3-34DC-42CE-8479-28A95CC05208}"/>
              </a:ext>
            </a:extLst>
          </p:cNvPr>
          <p:cNvSpPr txBox="1"/>
          <p:nvPr/>
        </p:nvSpPr>
        <p:spPr>
          <a:xfrm>
            <a:off x="164410" y="114719"/>
            <a:ext cx="8886825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РАСПРЕДЕЛЕНИЕ ЗАРПЛАТ В ЗАВИСИМОСТИ ОТ ПРИЗНАКОВ ВАКАНСИИ</a:t>
            </a:r>
          </a:p>
        </p:txBody>
      </p:sp>
      <p:sp>
        <p:nvSpPr>
          <p:cNvPr id="17" name="Google Shape;150;p27">
            <a:extLst>
              <a:ext uri="{FF2B5EF4-FFF2-40B4-BE49-F238E27FC236}">
                <a16:creationId xmlns:a16="http://schemas.microsoft.com/office/drawing/2014/main" id="{CAA45453-37CE-4960-BC56-CEE2544EE26B}"/>
              </a:ext>
            </a:extLst>
          </p:cNvPr>
          <p:cNvSpPr/>
          <p:nvPr/>
        </p:nvSpPr>
        <p:spPr>
          <a:xfrm>
            <a:off x="5208421" y="697912"/>
            <a:ext cx="3386938" cy="49036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РАСПРЕДЕЛЕНИЕ ЗАРПЛАТ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В МОСКВЕ И РЕГИОНАХ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" name="Стрелка: изогнутая вверх 17">
            <a:extLst>
              <a:ext uri="{FF2B5EF4-FFF2-40B4-BE49-F238E27FC236}">
                <a16:creationId xmlns:a16="http://schemas.microsoft.com/office/drawing/2014/main" id="{249EE8BA-EAC6-4404-B768-23C4C2C109A8}"/>
              </a:ext>
            </a:extLst>
          </p:cNvPr>
          <p:cNvSpPr/>
          <p:nvPr/>
        </p:nvSpPr>
        <p:spPr>
          <a:xfrm rot="14208225">
            <a:off x="6571250" y="1829465"/>
            <a:ext cx="1444871" cy="579240"/>
          </a:xfrm>
          <a:prstGeom prst="curvedUpArrow">
            <a:avLst>
              <a:gd name="adj1" fmla="val 25000"/>
              <a:gd name="adj2" fmla="val 50000"/>
              <a:gd name="adj3" fmla="val 32877"/>
            </a:avLst>
          </a:prstGeom>
          <a:solidFill>
            <a:srgbClr val="E59EDD"/>
          </a:solidFill>
          <a:ln>
            <a:solidFill>
              <a:srgbClr val="DFC7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5A7F5F-1091-4758-9FBD-31DAA59953C8}"/>
              </a:ext>
            </a:extLst>
          </p:cNvPr>
          <p:cNvSpPr txBox="1"/>
          <p:nvPr/>
        </p:nvSpPr>
        <p:spPr>
          <a:xfrm rot="2270327">
            <a:off x="7086501" y="1724270"/>
            <a:ext cx="1440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Рост в 2,</a:t>
            </a:r>
            <a:r>
              <a:rPr lang="en-US" sz="1600" b="1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9</a:t>
            </a:r>
            <a:r>
              <a:rPr lang="ru-RU" sz="1600" b="1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раз</a:t>
            </a:r>
          </a:p>
        </p:txBody>
      </p:sp>
      <p:sp>
        <p:nvSpPr>
          <p:cNvPr id="20" name="Google Shape;203;p30">
            <a:extLst>
              <a:ext uri="{FF2B5EF4-FFF2-40B4-BE49-F238E27FC236}">
                <a16:creationId xmlns:a16="http://schemas.microsoft.com/office/drawing/2014/main" id="{D6FB3EB9-178A-4A53-B9B5-BCECE02196E4}"/>
              </a:ext>
            </a:extLst>
          </p:cNvPr>
          <p:cNvSpPr/>
          <p:nvPr/>
        </p:nvSpPr>
        <p:spPr>
          <a:xfrm rot="5400000">
            <a:off x="123878" y="787075"/>
            <a:ext cx="4280911" cy="41025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8236C53E-AC07-4DA9-8E85-B513BA5AD6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292343"/>
              </p:ext>
            </p:extLst>
          </p:nvPr>
        </p:nvGraphicFramePr>
        <p:xfrm>
          <a:off x="679820" y="1127812"/>
          <a:ext cx="3268970" cy="1599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Диаграмма 21">
            <a:extLst>
              <a:ext uri="{FF2B5EF4-FFF2-40B4-BE49-F238E27FC236}">
                <a16:creationId xmlns:a16="http://schemas.microsoft.com/office/drawing/2014/main" id="{20933E1E-1A07-4CD2-A5B9-0296B2341A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604955"/>
              </p:ext>
            </p:extLst>
          </p:nvPr>
        </p:nvGraphicFramePr>
        <p:xfrm>
          <a:off x="-110542" y="3277425"/>
          <a:ext cx="3907133" cy="1418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Google Shape;150;p27">
            <a:extLst>
              <a:ext uri="{FF2B5EF4-FFF2-40B4-BE49-F238E27FC236}">
                <a16:creationId xmlns:a16="http://schemas.microsoft.com/office/drawing/2014/main" id="{550CC75A-F02A-4707-AA67-C5FB6128623D}"/>
              </a:ext>
            </a:extLst>
          </p:cNvPr>
          <p:cNvSpPr/>
          <p:nvPr/>
        </p:nvSpPr>
        <p:spPr>
          <a:xfrm>
            <a:off x="839888" y="849802"/>
            <a:ext cx="28800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ЗАРПЛАТЫ В РАЗРЕЗЕ ФО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" name="Google Shape;150;p27">
            <a:extLst>
              <a:ext uri="{FF2B5EF4-FFF2-40B4-BE49-F238E27FC236}">
                <a16:creationId xmlns:a16="http://schemas.microsoft.com/office/drawing/2014/main" id="{6FF5F5A3-0490-4E7D-B4FE-89D1AC106B47}"/>
              </a:ext>
            </a:extLst>
          </p:cNvPr>
          <p:cNvSpPr/>
          <p:nvPr/>
        </p:nvSpPr>
        <p:spPr>
          <a:xfrm>
            <a:off x="824563" y="2958305"/>
            <a:ext cx="2880000" cy="25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ЗАРПЛАТЫ В РАЗРЕЗЕ РЕГИОНОВ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43E770-F5D4-4787-9235-987C07F9699A}"/>
              </a:ext>
            </a:extLst>
          </p:cNvPr>
          <p:cNvSpPr txBox="1"/>
          <p:nvPr/>
        </p:nvSpPr>
        <p:spPr>
          <a:xfrm>
            <a:off x="7534655" y="4949561"/>
            <a:ext cx="15604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/>
              <a:t>Зарплата указана в </a:t>
            </a:r>
            <a:r>
              <a:rPr lang="ru-RU" sz="800" dirty="0" err="1"/>
              <a:t>тыс.руб</a:t>
            </a:r>
            <a:r>
              <a:rPr lang="ru-RU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0159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38;p26">
            <a:extLst>
              <a:ext uri="{FF2B5EF4-FFF2-40B4-BE49-F238E27FC236}">
                <a16:creationId xmlns:a16="http://schemas.microsoft.com/office/drawing/2014/main" id="{03E17E91-E593-4948-9B94-88AD7F48EEAB}"/>
              </a:ext>
            </a:extLst>
          </p:cNvPr>
          <p:cNvSpPr txBox="1"/>
          <p:nvPr/>
        </p:nvSpPr>
        <p:spPr>
          <a:xfrm>
            <a:off x="164410" y="56199"/>
            <a:ext cx="8886825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РАСПРЕДЕЛЕНИЕ ЗАРПЛАТ В ЗАВИСИМОСТИ ОТ ПРИЗНАКОВ ВАКАНСИИ</a:t>
            </a:r>
          </a:p>
        </p:txBody>
      </p:sp>
      <p:sp>
        <p:nvSpPr>
          <p:cNvPr id="8" name="Google Shape;203;p30">
            <a:extLst>
              <a:ext uri="{FF2B5EF4-FFF2-40B4-BE49-F238E27FC236}">
                <a16:creationId xmlns:a16="http://schemas.microsoft.com/office/drawing/2014/main" id="{3D55F199-D686-4610-9CC2-6443C0C1CD63}"/>
              </a:ext>
            </a:extLst>
          </p:cNvPr>
          <p:cNvSpPr/>
          <p:nvPr/>
        </p:nvSpPr>
        <p:spPr>
          <a:xfrm rot="5400000">
            <a:off x="337760" y="755501"/>
            <a:ext cx="3853147" cy="41025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09FDC787-F9B5-479B-B777-9A3DA35BB5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3540394"/>
              </p:ext>
            </p:extLst>
          </p:nvPr>
        </p:nvGraphicFramePr>
        <p:xfrm>
          <a:off x="323273" y="1114159"/>
          <a:ext cx="3851563" cy="3452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Google Shape;150;p27">
            <a:extLst>
              <a:ext uri="{FF2B5EF4-FFF2-40B4-BE49-F238E27FC236}">
                <a16:creationId xmlns:a16="http://schemas.microsoft.com/office/drawing/2014/main" id="{FBB23F4C-5EA8-4689-B7CB-B7AAC6E1A4DA}"/>
              </a:ext>
            </a:extLst>
          </p:cNvPr>
          <p:cNvSpPr/>
          <p:nvPr/>
        </p:nvSpPr>
        <p:spPr>
          <a:xfrm>
            <a:off x="576073" y="697912"/>
            <a:ext cx="3354992" cy="49036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ЗАРПЛАТЫ В РАЗРЕЗЕ КЛАСТЕРОВ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Google Shape;203;p30">
            <a:extLst>
              <a:ext uri="{FF2B5EF4-FFF2-40B4-BE49-F238E27FC236}">
                <a16:creationId xmlns:a16="http://schemas.microsoft.com/office/drawing/2014/main" id="{4C13DF8D-8C92-4323-AAAD-8ACAE55D4F34}"/>
              </a:ext>
            </a:extLst>
          </p:cNvPr>
          <p:cNvSpPr/>
          <p:nvPr/>
        </p:nvSpPr>
        <p:spPr>
          <a:xfrm rot="5400000">
            <a:off x="4786905" y="819138"/>
            <a:ext cx="3853147" cy="397531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4" name="Диаграмма 23">
            <a:extLst>
              <a:ext uri="{FF2B5EF4-FFF2-40B4-BE49-F238E27FC236}">
                <a16:creationId xmlns:a16="http://schemas.microsoft.com/office/drawing/2014/main" id="{0B44D655-5122-4379-94F4-F014334E82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7271832"/>
              </p:ext>
            </p:extLst>
          </p:nvPr>
        </p:nvGraphicFramePr>
        <p:xfrm>
          <a:off x="4725823" y="1188272"/>
          <a:ext cx="3725967" cy="3452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Google Shape;150;p27">
            <a:extLst>
              <a:ext uri="{FF2B5EF4-FFF2-40B4-BE49-F238E27FC236}">
                <a16:creationId xmlns:a16="http://schemas.microsoft.com/office/drawing/2014/main" id="{BDAD0C84-8167-405D-9AE0-D5FD9B79F828}"/>
              </a:ext>
            </a:extLst>
          </p:cNvPr>
          <p:cNvSpPr/>
          <p:nvPr/>
        </p:nvSpPr>
        <p:spPr>
          <a:xfrm>
            <a:off x="5110385" y="697912"/>
            <a:ext cx="3341405" cy="49036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ЗАРПЛАТЫ В РАЗРЕЗЕ СПЕЦИАЛИЗАЦИЙ</a:t>
            </a:r>
            <a:endParaRPr kumimoji="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D637A3-0872-405D-AE99-A3FDE6B737D4}"/>
              </a:ext>
            </a:extLst>
          </p:cNvPr>
          <p:cNvSpPr txBox="1"/>
          <p:nvPr/>
        </p:nvSpPr>
        <p:spPr>
          <a:xfrm>
            <a:off x="7534655" y="4949561"/>
            <a:ext cx="15604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/>
              <a:t>Зарплата указана в </a:t>
            </a:r>
            <a:r>
              <a:rPr lang="ru-RU" sz="800" dirty="0" err="1"/>
              <a:t>тыс.руб</a:t>
            </a:r>
            <a:r>
              <a:rPr lang="ru-RU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4129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38;p26">
            <a:extLst>
              <a:ext uri="{FF2B5EF4-FFF2-40B4-BE49-F238E27FC236}">
                <a16:creationId xmlns:a16="http://schemas.microsoft.com/office/drawing/2014/main" id="{03E17E91-E593-4948-9B94-88AD7F48EEAB}"/>
              </a:ext>
            </a:extLst>
          </p:cNvPr>
          <p:cNvSpPr txBox="1"/>
          <p:nvPr/>
        </p:nvSpPr>
        <p:spPr>
          <a:xfrm>
            <a:off x="164410" y="56199"/>
            <a:ext cx="8886825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РАСПРЕДЕЛЕНИЕ ЗАРПЛАТ В ЗАВИСИМОСТИ ОТ ПРИЗНАКОВ ВАКАНСИИ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8CBD85-9E99-4007-86E1-B33030B9CD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95"/>
          <a:stretch/>
        </p:blipFill>
        <p:spPr>
          <a:xfrm>
            <a:off x="300578" y="529202"/>
            <a:ext cx="8346789" cy="427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155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38;p26">
            <a:extLst>
              <a:ext uri="{FF2B5EF4-FFF2-40B4-BE49-F238E27FC236}">
                <a16:creationId xmlns:a16="http://schemas.microsoft.com/office/drawing/2014/main" id="{03E17E91-E593-4948-9B94-88AD7F48EEAB}"/>
              </a:ext>
            </a:extLst>
          </p:cNvPr>
          <p:cNvSpPr txBox="1"/>
          <p:nvPr/>
        </p:nvSpPr>
        <p:spPr>
          <a:xfrm>
            <a:off x="164410" y="56199"/>
            <a:ext cx="8886825" cy="407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РАСПРЕДЕЛЕНИЕ ЗАРПЛАТ В ЗАВИСИМОСТИ ОТ ПРИЗНАКОВ ВАКАНСИИ</a:t>
            </a:r>
          </a:p>
        </p:txBody>
      </p:sp>
      <p:sp>
        <p:nvSpPr>
          <p:cNvPr id="8" name="Google Shape;203;p30">
            <a:extLst>
              <a:ext uri="{FF2B5EF4-FFF2-40B4-BE49-F238E27FC236}">
                <a16:creationId xmlns:a16="http://schemas.microsoft.com/office/drawing/2014/main" id="{3D55F199-D686-4610-9CC2-6443C0C1CD63}"/>
              </a:ext>
            </a:extLst>
          </p:cNvPr>
          <p:cNvSpPr/>
          <p:nvPr/>
        </p:nvSpPr>
        <p:spPr>
          <a:xfrm rot="5400000">
            <a:off x="337760" y="755501"/>
            <a:ext cx="3853147" cy="41025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09FDC787-F9B5-479B-B777-9A3DA35BB5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5437584"/>
              </p:ext>
            </p:extLst>
          </p:nvPr>
        </p:nvGraphicFramePr>
        <p:xfrm>
          <a:off x="323273" y="1114159"/>
          <a:ext cx="3851563" cy="3452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Google Shape;150;p27">
            <a:extLst>
              <a:ext uri="{FF2B5EF4-FFF2-40B4-BE49-F238E27FC236}">
                <a16:creationId xmlns:a16="http://schemas.microsoft.com/office/drawing/2014/main" id="{FBB23F4C-5EA8-4689-B7CB-B7AAC6E1A4DA}"/>
              </a:ext>
            </a:extLst>
          </p:cNvPr>
          <p:cNvSpPr/>
          <p:nvPr/>
        </p:nvSpPr>
        <p:spPr>
          <a:xfrm>
            <a:off x="576073" y="697912"/>
            <a:ext cx="3354992" cy="49036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ЗАРПЛАТЫ В РАЗРЕЗЕ </a:t>
            </a: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КОМПАНИЙ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Google Shape;203;p30">
            <a:extLst>
              <a:ext uri="{FF2B5EF4-FFF2-40B4-BE49-F238E27FC236}">
                <a16:creationId xmlns:a16="http://schemas.microsoft.com/office/drawing/2014/main" id="{4C13DF8D-8C92-4323-AAAD-8ACAE55D4F34}"/>
              </a:ext>
            </a:extLst>
          </p:cNvPr>
          <p:cNvSpPr/>
          <p:nvPr/>
        </p:nvSpPr>
        <p:spPr>
          <a:xfrm rot="5400000">
            <a:off x="4786905" y="819138"/>
            <a:ext cx="3853147" cy="397531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4" name="Диаграмма 23">
            <a:extLst>
              <a:ext uri="{FF2B5EF4-FFF2-40B4-BE49-F238E27FC236}">
                <a16:creationId xmlns:a16="http://schemas.microsoft.com/office/drawing/2014/main" id="{0B44D655-5122-4379-94F4-F014334E82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2664374"/>
              </p:ext>
            </p:extLst>
          </p:nvPr>
        </p:nvGraphicFramePr>
        <p:xfrm>
          <a:off x="4725823" y="1188272"/>
          <a:ext cx="3725967" cy="3452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Google Shape;150;p27">
            <a:extLst>
              <a:ext uri="{FF2B5EF4-FFF2-40B4-BE49-F238E27FC236}">
                <a16:creationId xmlns:a16="http://schemas.microsoft.com/office/drawing/2014/main" id="{BDAD0C84-8167-405D-9AE0-D5FD9B79F828}"/>
              </a:ext>
            </a:extLst>
          </p:cNvPr>
          <p:cNvSpPr/>
          <p:nvPr/>
        </p:nvSpPr>
        <p:spPr>
          <a:xfrm>
            <a:off x="5110385" y="697912"/>
            <a:ext cx="3341405" cy="49036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ЗАРПЛАТЫ В РАЗРЕЗЕ КОМПАНИЙ</a:t>
            </a:r>
            <a:endParaRPr kumimoji="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B735EE-0B50-4240-BAAD-B70AF761F887}"/>
              </a:ext>
            </a:extLst>
          </p:cNvPr>
          <p:cNvSpPr txBox="1"/>
          <p:nvPr/>
        </p:nvSpPr>
        <p:spPr>
          <a:xfrm>
            <a:off x="7534655" y="4949561"/>
            <a:ext cx="15604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/>
              <a:t>Зарплата указана в </a:t>
            </a:r>
            <a:r>
              <a:rPr lang="ru-RU" sz="800" dirty="0" err="1"/>
              <a:t>тыс.руб</a:t>
            </a:r>
            <a:r>
              <a:rPr lang="ru-RU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977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03;p30">
            <a:extLst>
              <a:ext uri="{FF2B5EF4-FFF2-40B4-BE49-F238E27FC236}">
                <a16:creationId xmlns:a16="http://schemas.microsoft.com/office/drawing/2014/main" id="{BF4656DA-433B-4FA3-8256-5140B358ACF0}"/>
              </a:ext>
            </a:extLst>
          </p:cNvPr>
          <p:cNvSpPr/>
          <p:nvPr/>
        </p:nvSpPr>
        <p:spPr>
          <a:xfrm>
            <a:off x="4628036" y="757633"/>
            <a:ext cx="4276276" cy="4221188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D8D85364-9672-4CE3-B260-718464FC69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257869"/>
              </p:ext>
            </p:extLst>
          </p:nvPr>
        </p:nvGraphicFramePr>
        <p:xfrm>
          <a:off x="4776824" y="1104595"/>
          <a:ext cx="4030675" cy="3460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Google Shape;138;p26">
            <a:extLst>
              <a:ext uri="{FF2B5EF4-FFF2-40B4-BE49-F238E27FC236}">
                <a16:creationId xmlns:a16="http://schemas.microsoft.com/office/drawing/2014/main" id="{9E6885A3-34DC-42CE-8479-28A95CC05208}"/>
              </a:ext>
            </a:extLst>
          </p:cNvPr>
          <p:cNvSpPr txBox="1"/>
          <p:nvPr/>
        </p:nvSpPr>
        <p:spPr>
          <a:xfrm>
            <a:off x="115858" y="138995"/>
            <a:ext cx="9109063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0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РАСПРЕДЕЛЕНИЕ ЗАРПЛАТ В ЗАВИСИМОСТИ ОТ УПОМИНАНИЯ ИИ В ВАКАНСИЯХ</a:t>
            </a:r>
          </a:p>
        </p:txBody>
      </p:sp>
      <p:sp>
        <p:nvSpPr>
          <p:cNvPr id="17" name="Google Shape;150;p27">
            <a:extLst>
              <a:ext uri="{FF2B5EF4-FFF2-40B4-BE49-F238E27FC236}">
                <a16:creationId xmlns:a16="http://schemas.microsoft.com/office/drawing/2014/main" id="{CAA45453-37CE-4960-BC56-CEE2544EE26B}"/>
              </a:ext>
            </a:extLst>
          </p:cNvPr>
          <p:cNvSpPr/>
          <p:nvPr/>
        </p:nvSpPr>
        <p:spPr>
          <a:xfrm>
            <a:off x="5208421" y="697912"/>
            <a:ext cx="3386938" cy="49036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РАСПРЕДЕЛЕНИЕ ЗАРПЛАТ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В ЗАВИСИМОСТИ ОТ УПОМИНАНИЙ ИИ</a:t>
            </a:r>
            <a:endParaRPr kumimoji="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" name="Стрелка: изогнутая вверх 17">
            <a:extLst>
              <a:ext uri="{FF2B5EF4-FFF2-40B4-BE49-F238E27FC236}">
                <a16:creationId xmlns:a16="http://schemas.microsoft.com/office/drawing/2014/main" id="{249EE8BA-EAC6-4404-B768-23C4C2C109A8}"/>
              </a:ext>
            </a:extLst>
          </p:cNvPr>
          <p:cNvSpPr/>
          <p:nvPr/>
        </p:nvSpPr>
        <p:spPr>
          <a:xfrm rot="14208225">
            <a:off x="6571250" y="1829465"/>
            <a:ext cx="1444871" cy="579240"/>
          </a:xfrm>
          <a:prstGeom prst="curvedUpArrow">
            <a:avLst>
              <a:gd name="adj1" fmla="val 25000"/>
              <a:gd name="adj2" fmla="val 50000"/>
              <a:gd name="adj3" fmla="val 32877"/>
            </a:avLst>
          </a:prstGeom>
          <a:solidFill>
            <a:srgbClr val="E59EDD"/>
          </a:solidFill>
          <a:ln>
            <a:solidFill>
              <a:srgbClr val="DFC7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5A7F5F-1091-4758-9FBD-31DAA59953C8}"/>
              </a:ext>
            </a:extLst>
          </p:cNvPr>
          <p:cNvSpPr txBox="1"/>
          <p:nvPr/>
        </p:nvSpPr>
        <p:spPr>
          <a:xfrm rot="2270327">
            <a:off x="7086501" y="1724270"/>
            <a:ext cx="14402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Arial"/>
                <a:sym typeface="Arial"/>
              </a:rPr>
              <a:t>Рост в 2,5 раз</a:t>
            </a:r>
          </a:p>
        </p:txBody>
      </p:sp>
      <p:sp>
        <p:nvSpPr>
          <p:cNvPr id="20" name="Google Shape;203;p30">
            <a:extLst>
              <a:ext uri="{FF2B5EF4-FFF2-40B4-BE49-F238E27FC236}">
                <a16:creationId xmlns:a16="http://schemas.microsoft.com/office/drawing/2014/main" id="{D6FB3EB9-178A-4A53-B9B5-BCECE02196E4}"/>
              </a:ext>
            </a:extLst>
          </p:cNvPr>
          <p:cNvSpPr/>
          <p:nvPr/>
        </p:nvSpPr>
        <p:spPr>
          <a:xfrm rot="5400000">
            <a:off x="123878" y="787075"/>
            <a:ext cx="4280911" cy="41025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" name="Google Shape;150;p27">
            <a:extLst>
              <a:ext uri="{FF2B5EF4-FFF2-40B4-BE49-F238E27FC236}">
                <a16:creationId xmlns:a16="http://schemas.microsoft.com/office/drawing/2014/main" id="{BD6B9A22-DA82-4F53-B77A-C050409E7495}"/>
              </a:ext>
            </a:extLst>
          </p:cNvPr>
          <p:cNvSpPr/>
          <p:nvPr/>
        </p:nvSpPr>
        <p:spPr>
          <a:xfrm>
            <a:off x="548640" y="686339"/>
            <a:ext cx="3488667" cy="49036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СОЗДАНИЕ АТТРИБУТА ИИ-УПОМИНАНИЙ</a:t>
            </a:r>
            <a:endParaRPr kumimoji="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E8EB49-6857-43C5-8003-98AFDD03BA07}"/>
              </a:ext>
            </a:extLst>
          </p:cNvPr>
          <p:cNvSpPr txBox="1"/>
          <p:nvPr/>
        </p:nvSpPr>
        <p:spPr>
          <a:xfrm>
            <a:off x="336501" y="1400197"/>
            <a:ext cx="3963189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Для проверки о влиянии ИИ-компетенций на зарплатное предложение для ИТ-специалистов была создана бинарная переменная,  которая фиксирует, упоминался ли ИИ-навык в вакансии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В паттерны для поиска упоминаний ИИ и машинного обучения в текстах включались следующие возможные формы упоминаний: 1) </a:t>
            </a:r>
            <a:r>
              <a:rPr lang="ru-RU" sz="1100" b="1" dirty="0">
                <a:solidFill>
                  <a:schemeClr val="accent5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широкие термины, обозначающие саму область </a:t>
            </a: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(ИИ, </a:t>
            </a:r>
            <a:r>
              <a:rPr lang="en-US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ML</a:t>
            </a: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и т.д.) 2</a:t>
            </a:r>
            <a:r>
              <a:rPr lang="ru-RU" sz="1100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) </a:t>
            </a:r>
            <a:r>
              <a:rPr lang="ru-RU" sz="1100" b="1" dirty="0">
                <a:solidFill>
                  <a:schemeClr val="accent5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узкие направления работы с ИИ </a:t>
            </a: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en-US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computer vision, NLP</a:t>
            </a: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), 3) </a:t>
            </a:r>
            <a:r>
              <a:rPr lang="ru-RU" sz="1100" b="1" dirty="0">
                <a:solidFill>
                  <a:schemeClr val="accent5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конкретные инструменты и технологии</a:t>
            </a: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: названия моделей, фреймворки, практики (</a:t>
            </a:r>
            <a:r>
              <a:rPr lang="en-US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Claude, </a:t>
            </a:r>
            <a:r>
              <a:rPr lang="en-US" sz="1100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PyTorch</a:t>
            </a:r>
            <a:r>
              <a:rPr lang="en-US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</a:t>
            </a:r>
            <a:r>
              <a:rPr lang="en-US" sz="1100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MLOps</a:t>
            </a:r>
            <a:r>
              <a:rPr lang="en-US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На вакансии с упоминанием ИИ приходится </a:t>
            </a:r>
            <a:r>
              <a:rPr lang="ru-RU" sz="1200" b="1" dirty="0">
                <a:solidFill>
                  <a:schemeClr val="accent5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9-10% </a:t>
            </a: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вакансий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b="1" dirty="0">
                <a:solidFill>
                  <a:schemeClr val="accent5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Различия в зарплатах между группами статистически значимы</a:t>
            </a: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а размер эффекта по </a:t>
            </a:r>
            <a:r>
              <a:rPr lang="ru-RU" sz="1100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рангово-бисериальной</a:t>
            </a: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 корреляции составляет </a:t>
            </a:r>
            <a:r>
              <a:rPr lang="ru-RU" sz="1100" b="1" dirty="0">
                <a:solidFill>
                  <a:schemeClr val="accent5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r = 0,665</a:t>
            </a:r>
            <a:r>
              <a:rPr lang="ru-RU" sz="1100" dirty="0">
                <a:latin typeface="Roboto Condensed" panose="02000000000000000000" pitchFamily="2" charset="0"/>
                <a:ea typeface="Roboto Condensed" panose="02000000000000000000" pitchFamily="2" charset="0"/>
              </a:rPr>
              <a:t>, что соответствует большому эффекту по шкале Коэна для ранговых мер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100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13F4F2-39DA-4663-8158-E331328BF47C}"/>
              </a:ext>
            </a:extLst>
          </p:cNvPr>
          <p:cNvSpPr txBox="1"/>
          <p:nvPr/>
        </p:nvSpPr>
        <p:spPr>
          <a:xfrm>
            <a:off x="7534655" y="4949561"/>
            <a:ext cx="15604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/>
              <a:t>Зарплата указана в </a:t>
            </a:r>
            <a:r>
              <a:rPr lang="ru-RU" sz="800" dirty="0" err="1"/>
              <a:t>тыс.руб</a:t>
            </a:r>
            <a:r>
              <a:rPr lang="ru-RU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5049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138;p26">
            <a:extLst>
              <a:ext uri="{FF2B5EF4-FFF2-40B4-BE49-F238E27FC236}">
                <a16:creationId xmlns:a16="http://schemas.microsoft.com/office/drawing/2014/main" id="{03E17E91-E593-4948-9B94-88AD7F48EEAB}"/>
              </a:ext>
            </a:extLst>
          </p:cNvPr>
          <p:cNvSpPr txBox="1"/>
          <p:nvPr/>
        </p:nvSpPr>
        <p:spPr>
          <a:xfrm>
            <a:off x="164410" y="151295"/>
            <a:ext cx="8886825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2000" b="1" dirty="0">
                <a:solidFill>
                  <a:srgbClr val="0B2C69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«ЦЕНА НАВЫКА»: СВЯЗЬ МЕЖДУ ЗАРПЛАТОЙ И УПОМИНАНИЯМИ В ВАКАНСИЯХ</a:t>
            </a:r>
            <a:endParaRPr kumimoji="0" lang="ru-RU" sz="20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  <a:cs typeface="Arial"/>
              <a:sym typeface="Arial"/>
            </a:endParaRPr>
          </a:p>
        </p:txBody>
      </p:sp>
      <p:sp>
        <p:nvSpPr>
          <p:cNvPr id="8" name="Google Shape;203;p30">
            <a:extLst>
              <a:ext uri="{FF2B5EF4-FFF2-40B4-BE49-F238E27FC236}">
                <a16:creationId xmlns:a16="http://schemas.microsoft.com/office/drawing/2014/main" id="{3D55F199-D686-4610-9CC2-6443C0C1CD63}"/>
              </a:ext>
            </a:extLst>
          </p:cNvPr>
          <p:cNvSpPr/>
          <p:nvPr/>
        </p:nvSpPr>
        <p:spPr>
          <a:xfrm rot="5400000">
            <a:off x="337760" y="755501"/>
            <a:ext cx="3853147" cy="41025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09FDC787-F9B5-479B-B777-9A3DA35BB5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602047"/>
              </p:ext>
            </p:extLst>
          </p:nvPr>
        </p:nvGraphicFramePr>
        <p:xfrm>
          <a:off x="323273" y="1114159"/>
          <a:ext cx="3851563" cy="3452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Google Shape;150;p27">
            <a:extLst>
              <a:ext uri="{FF2B5EF4-FFF2-40B4-BE49-F238E27FC236}">
                <a16:creationId xmlns:a16="http://schemas.microsoft.com/office/drawing/2014/main" id="{FBB23F4C-5EA8-4689-B7CB-B7AAC6E1A4DA}"/>
              </a:ext>
            </a:extLst>
          </p:cNvPr>
          <p:cNvSpPr/>
          <p:nvPr/>
        </p:nvSpPr>
        <p:spPr>
          <a:xfrm>
            <a:off x="576073" y="697912"/>
            <a:ext cx="3354992" cy="49036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ТОП-15 навыков по медианной ЗП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Google Shape;203;p30">
            <a:extLst>
              <a:ext uri="{FF2B5EF4-FFF2-40B4-BE49-F238E27FC236}">
                <a16:creationId xmlns:a16="http://schemas.microsoft.com/office/drawing/2014/main" id="{4C13DF8D-8C92-4323-AAAD-8ACAE55D4F34}"/>
              </a:ext>
            </a:extLst>
          </p:cNvPr>
          <p:cNvSpPr/>
          <p:nvPr/>
        </p:nvSpPr>
        <p:spPr>
          <a:xfrm rot="5400000">
            <a:off x="4786905" y="819138"/>
            <a:ext cx="3853147" cy="397531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4" name="Диаграмма 23">
            <a:extLst>
              <a:ext uri="{FF2B5EF4-FFF2-40B4-BE49-F238E27FC236}">
                <a16:creationId xmlns:a16="http://schemas.microsoft.com/office/drawing/2014/main" id="{0B44D655-5122-4379-94F4-F014334E82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7859777"/>
              </p:ext>
            </p:extLst>
          </p:nvPr>
        </p:nvGraphicFramePr>
        <p:xfrm>
          <a:off x="4725823" y="1114158"/>
          <a:ext cx="3725967" cy="3452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Google Shape;150;p27">
            <a:extLst>
              <a:ext uri="{FF2B5EF4-FFF2-40B4-BE49-F238E27FC236}">
                <a16:creationId xmlns:a16="http://schemas.microsoft.com/office/drawing/2014/main" id="{BDAD0C84-8167-405D-9AE0-D5FD9B79F828}"/>
              </a:ext>
            </a:extLst>
          </p:cNvPr>
          <p:cNvSpPr/>
          <p:nvPr/>
        </p:nvSpPr>
        <p:spPr>
          <a:xfrm>
            <a:off x="4841960" y="697912"/>
            <a:ext cx="3725967" cy="49036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ТОП-1</a:t>
            </a: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5 навыков по частоте упоминаний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EDA17E-E01D-4FB7-8D7F-8230B51FDA79}"/>
              </a:ext>
            </a:extLst>
          </p:cNvPr>
          <p:cNvSpPr txBox="1"/>
          <p:nvPr/>
        </p:nvSpPr>
        <p:spPr>
          <a:xfrm>
            <a:off x="7534655" y="4949561"/>
            <a:ext cx="15604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/>
              <a:t>Зарплата указана в </a:t>
            </a:r>
            <a:r>
              <a:rPr lang="ru-RU" sz="800" dirty="0" err="1"/>
              <a:t>тыс.руб</a:t>
            </a:r>
            <a:r>
              <a:rPr lang="ru-RU" sz="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3517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p28"/>
          <p:cNvCxnSpPr>
            <a:cxnSpLocks/>
            <a:endCxn id="31" idx="2"/>
          </p:cNvCxnSpPr>
          <p:nvPr/>
        </p:nvCxnSpPr>
        <p:spPr>
          <a:xfrm>
            <a:off x="1806866" y="1214688"/>
            <a:ext cx="22474" cy="3858949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9" name="Google Shape;169;p28"/>
          <p:cNvSpPr/>
          <p:nvPr/>
        </p:nvSpPr>
        <p:spPr>
          <a:xfrm>
            <a:off x="913154" y="831657"/>
            <a:ext cx="1832372" cy="5001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Грейд</a:t>
            </a:r>
            <a:endParaRPr sz="14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" name="Google Shape;169;p28">
            <a:extLst>
              <a:ext uri="{FF2B5EF4-FFF2-40B4-BE49-F238E27FC236}">
                <a16:creationId xmlns:a16="http://schemas.microsoft.com/office/drawing/2014/main" id="{680020F0-5654-480D-92CA-D2B145154654}"/>
              </a:ext>
            </a:extLst>
          </p:cNvPr>
          <p:cNvSpPr/>
          <p:nvPr/>
        </p:nvSpPr>
        <p:spPr>
          <a:xfrm>
            <a:off x="913154" y="1363276"/>
            <a:ext cx="1832372" cy="5001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Размер компании</a:t>
            </a:r>
            <a:endParaRPr sz="14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" name="Google Shape;169;p28">
            <a:extLst>
              <a:ext uri="{FF2B5EF4-FFF2-40B4-BE49-F238E27FC236}">
                <a16:creationId xmlns:a16="http://schemas.microsoft.com/office/drawing/2014/main" id="{A9AA8DB0-5A62-44C4-8F5F-AA54E53A25C1}"/>
              </a:ext>
            </a:extLst>
          </p:cNvPr>
          <p:cNvSpPr/>
          <p:nvPr/>
        </p:nvSpPr>
        <p:spPr>
          <a:xfrm>
            <a:off x="913154" y="1884956"/>
            <a:ext cx="1832372" cy="5001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Федеральные округа</a:t>
            </a:r>
            <a:endParaRPr sz="14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" name="Google Shape;169;p28">
            <a:extLst>
              <a:ext uri="{FF2B5EF4-FFF2-40B4-BE49-F238E27FC236}">
                <a16:creationId xmlns:a16="http://schemas.microsoft.com/office/drawing/2014/main" id="{0EF20503-FCA0-4A9C-9671-4B71D6FA28F1}"/>
              </a:ext>
            </a:extLst>
          </p:cNvPr>
          <p:cNvSpPr/>
          <p:nvPr/>
        </p:nvSpPr>
        <p:spPr>
          <a:xfrm>
            <a:off x="913154" y="2416575"/>
            <a:ext cx="1832372" cy="5001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Отрасль (ТОП-10)</a:t>
            </a:r>
            <a:endParaRPr sz="14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" name="Google Shape;169;p28">
            <a:extLst>
              <a:ext uri="{FF2B5EF4-FFF2-40B4-BE49-F238E27FC236}">
                <a16:creationId xmlns:a16="http://schemas.microsoft.com/office/drawing/2014/main" id="{0680B1A9-8AB9-45ED-99CB-B1A6BAB1686F}"/>
              </a:ext>
            </a:extLst>
          </p:cNvPr>
          <p:cNvSpPr/>
          <p:nvPr/>
        </p:nvSpPr>
        <p:spPr>
          <a:xfrm>
            <a:off x="913154" y="2951550"/>
            <a:ext cx="1832372" cy="5001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Число навыков в вакансии</a:t>
            </a:r>
            <a:endParaRPr sz="1400" dirty="0">
              <a:solidFill>
                <a:srgbClr val="FF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" name="Google Shape;169;p28">
            <a:extLst>
              <a:ext uri="{FF2B5EF4-FFF2-40B4-BE49-F238E27FC236}">
                <a16:creationId xmlns:a16="http://schemas.microsoft.com/office/drawing/2014/main" id="{9BC0A40A-1964-47FF-A946-95C040F6D151}"/>
              </a:ext>
            </a:extLst>
          </p:cNvPr>
          <p:cNvSpPr/>
          <p:nvPr/>
        </p:nvSpPr>
        <p:spPr>
          <a:xfrm>
            <a:off x="913154" y="3479899"/>
            <a:ext cx="1832372" cy="5001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ИИ-фактор (1</a:t>
            </a:r>
            <a:r>
              <a:rPr lang="en-US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/0)</a:t>
            </a:r>
            <a:endParaRPr sz="14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0" name="Google Shape;169;p28">
            <a:extLst>
              <a:ext uri="{FF2B5EF4-FFF2-40B4-BE49-F238E27FC236}">
                <a16:creationId xmlns:a16="http://schemas.microsoft.com/office/drawing/2014/main" id="{35B4FC5C-5E2E-4D6D-9019-A1084ADE5525}"/>
              </a:ext>
            </a:extLst>
          </p:cNvPr>
          <p:cNvSpPr/>
          <p:nvPr/>
        </p:nvSpPr>
        <p:spPr>
          <a:xfrm>
            <a:off x="913154" y="4025303"/>
            <a:ext cx="1832372" cy="5001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FF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ТОП-работодатель</a:t>
            </a:r>
            <a:endParaRPr sz="1400" dirty="0">
              <a:solidFill>
                <a:srgbClr val="FF00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" name="Google Shape;169;p28">
            <a:extLst>
              <a:ext uri="{FF2B5EF4-FFF2-40B4-BE49-F238E27FC236}">
                <a16:creationId xmlns:a16="http://schemas.microsoft.com/office/drawing/2014/main" id="{323C2ACA-24F2-440E-B68D-BAF80E370DEF}"/>
              </a:ext>
            </a:extLst>
          </p:cNvPr>
          <p:cNvSpPr/>
          <p:nvPr/>
        </p:nvSpPr>
        <p:spPr>
          <a:xfrm>
            <a:off x="913154" y="4573530"/>
            <a:ext cx="1832372" cy="50010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ИТ-направление</a:t>
            </a:r>
            <a:endParaRPr sz="14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3" name="Google Shape;168;p28">
            <a:extLst>
              <a:ext uri="{FF2B5EF4-FFF2-40B4-BE49-F238E27FC236}">
                <a16:creationId xmlns:a16="http://schemas.microsoft.com/office/drawing/2014/main" id="{7D93BE49-A29F-4F69-AB3F-CE2DE66A4BF9}"/>
              </a:ext>
            </a:extLst>
          </p:cNvPr>
          <p:cNvSpPr txBox="1"/>
          <p:nvPr/>
        </p:nvSpPr>
        <p:spPr>
          <a:xfrm rot="16200000">
            <a:off x="-3498864" y="2701496"/>
            <a:ext cx="8012183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ПРИЗНАКИ</a:t>
            </a:r>
          </a:p>
        </p:txBody>
      </p:sp>
      <p:sp>
        <p:nvSpPr>
          <p:cNvPr id="34" name="Google Shape;169;p28">
            <a:extLst>
              <a:ext uri="{FF2B5EF4-FFF2-40B4-BE49-F238E27FC236}">
                <a16:creationId xmlns:a16="http://schemas.microsoft.com/office/drawing/2014/main" id="{571F531E-88FE-42A3-A4D0-28E10BF71AD1}"/>
              </a:ext>
            </a:extLst>
          </p:cNvPr>
          <p:cNvSpPr/>
          <p:nvPr/>
        </p:nvSpPr>
        <p:spPr>
          <a:xfrm>
            <a:off x="3597133" y="2164293"/>
            <a:ext cx="1832372" cy="142892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Агрегированная зарплата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lang="en-US" sz="1400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salary_avg</a:t>
            </a:r>
            <a:r>
              <a:rPr lang="en-US" sz="14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14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" name="Стрелка: вправо 34">
            <a:extLst>
              <a:ext uri="{FF2B5EF4-FFF2-40B4-BE49-F238E27FC236}">
                <a16:creationId xmlns:a16="http://schemas.microsoft.com/office/drawing/2014/main" id="{3E8EAB80-B691-4BCC-A9F0-FE916D677EDA}"/>
              </a:ext>
            </a:extLst>
          </p:cNvPr>
          <p:cNvSpPr/>
          <p:nvPr/>
        </p:nvSpPr>
        <p:spPr>
          <a:xfrm>
            <a:off x="2987306" y="1869595"/>
            <a:ext cx="432626" cy="2231333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6" name="Google Shape;168;p28">
            <a:extLst>
              <a:ext uri="{FF2B5EF4-FFF2-40B4-BE49-F238E27FC236}">
                <a16:creationId xmlns:a16="http://schemas.microsoft.com/office/drawing/2014/main" id="{688B80E3-4EE4-4A8C-B313-DA8E2234D02C}"/>
              </a:ext>
            </a:extLst>
          </p:cNvPr>
          <p:cNvSpPr txBox="1"/>
          <p:nvPr/>
        </p:nvSpPr>
        <p:spPr>
          <a:xfrm>
            <a:off x="3419932" y="1223732"/>
            <a:ext cx="2276062" cy="930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Целевая переменная</a:t>
            </a: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83F8DD52-BC3E-43D6-9560-92FCA1BAD1C3}"/>
              </a:ext>
            </a:extLst>
          </p:cNvPr>
          <p:cNvSpPr/>
          <p:nvPr/>
        </p:nvSpPr>
        <p:spPr>
          <a:xfrm>
            <a:off x="757282" y="831657"/>
            <a:ext cx="65976" cy="42419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Google Shape;149;p27">
            <a:extLst>
              <a:ext uri="{FF2B5EF4-FFF2-40B4-BE49-F238E27FC236}">
                <a16:creationId xmlns:a16="http://schemas.microsoft.com/office/drawing/2014/main" id="{B8DDEE44-E41F-450C-B79B-72F61A6367AF}"/>
              </a:ext>
            </a:extLst>
          </p:cNvPr>
          <p:cNvSpPr txBox="1"/>
          <p:nvPr/>
        </p:nvSpPr>
        <p:spPr>
          <a:xfrm>
            <a:off x="257174" y="300038"/>
            <a:ext cx="9294330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МЕТОДОЛОГИЯ РАБОТЫ: ЭТАП МОДЕЛИРОВАНИЯ</a:t>
            </a:r>
          </a:p>
        </p:txBody>
      </p:sp>
      <p:sp>
        <p:nvSpPr>
          <p:cNvPr id="39" name="Google Shape;169;p28">
            <a:extLst>
              <a:ext uri="{FF2B5EF4-FFF2-40B4-BE49-F238E27FC236}">
                <a16:creationId xmlns:a16="http://schemas.microsoft.com/office/drawing/2014/main" id="{33A062B1-3CE7-443A-8036-9C2C35B015EF}"/>
              </a:ext>
            </a:extLst>
          </p:cNvPr>
          <p:cNvSpPr/>
          <p:nvPr/>
        </p:nvSpPr>
        <p:spPr>
          <a:xfrm>
            <a:off x="5784445" y="831657"/>
            <a:ext cx="3102383" cy="424198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Для построения модели были выбраны четыре алгоритма: </a:t>
            </a:r>
            <a:endParaRPr lang="ru-RU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Наивный </a:t>
            </a:r>
            <a:r>
              <a:rPr lang="en-US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baseline</a:t>
            </a:r>
            <a:endParaRPr lang="ru-RU" sz="16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Линейная регрессия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Random</a:t>
            </a: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ru-RU" sz="1600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Forest</a:t>
            </a: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Градиентный </a:t>
            </a:r>
            <a:r>
              <a:rPr lang="ru-RU" sz="1600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бустинг</a:t>
            </a: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ru-RU" sz="1600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CatBoost</a:t>
            </a: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</a:t>
            </a:r>
          </a:p>
          <a:p>
            <a:pPr marL="28575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Градиентный </a:t>
            </a:r>
            <a:r>
              <a:rPr lang="ru-RU" sz="1600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бустинг</a:t>
            </a:r>
            <a:endParaRPr lang="ru-RU" sz="16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   </a:t>
            </a:r>
            <a:r>
              <a:rPr lang="ru-RU" sz="1600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LightGBM</a:t>
            </a:r>
            <a:endParaRPr sz="1600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" name="Google Shape;150;p27">
            <a:extLst>
              <a:ext uri="{FF2B5EF4-FFF2-40B4-BE49-F238E27FC236}">
                <a16:creationId xmlns:a16="http://schemas.microsoft.com/office/drawing/2014/main" id="{77EC686E-0F95-4538-9203-149DFE9A93F0}"/>
              </a:ext>
            </a:extLst>
          </p:cNvPr>
          <p:cNvSpPr/>
          <p:nvPr/>
        </p:nvSpPr>
        <p:spPr>
          <a:xfrm>
            <a:off x="5607309" y="800145"/>
            <a:ext cx="3358553" cy="56166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ТЕСТИРУЕМЫЕ МОДЕЛИ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03;p30">
            <a:extLst>
              <a:ext uri="{FF2B5EF4-FFF2-40B4-BE49-F238E27FC236}">
                <a16:creationId xmlns:a16="http://schemas.microsoft.com/office/drawing/2014/main" id="{628B4E57-0031-4142-80CE-5084906A13F7}"/>
              </a:ext>
            </a:extLst>
          </p:cNvPr>
          <p:cNvSpPr/>
          <p:nvPr/>
        </p:nvSpPr>
        <p:spPr>
          <a:xfrm>
            <a:off x="168997" y="957494"/>
            <a:ext cx="4238411" cy="407203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1" name="Google Shape;203;p30">
            <a:extLst>
              <a:ext uri="{FF2B5EF4-FFF2-40B4-BE49-F238E27FC236}">
                <a16:creationId xmlns:a16="http://schemas.microsoft.com/office/drawing/2014/main" id="{49322001-F326-49C5-9858-B9F1E584DB35}"/>
              </a:ext>
            </a:extLst>
          </p:cNvPr>
          <p:cNvSpPr/>
          <p:nvPr/>
        </p:nvSpPr>
        <p:spPr>
          <a:xfrm>
            <a:off x="4689880" y="969379"/>
            <a:ext cx="4238411" cy="407203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>
              <a:solidFill>
                <a:srgbClr val="0B2C6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7DB95630-9EA0-429D-A62E-99844A45C8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002136"/>
              </p:ext>
            </p:extLst>
          </p:nvPr>
        </p:nvGraphicFramePr>
        <p:xfrm>
          <a:off x="4911866" y="1544097"/>
          <a:ext cx="3933554" cy="3211710"/>
        </p:xfrm>
        <a:graphic>
          <a:graphicData uri="http://schemas.openxmlformats.org/drawingml/2006/table">
            <a:tbl>
              <a:tblPr/>
              <a:tblGrid>
                <a:gridCol w="2380268">
                  <a:extLst>
                    <a:ext uri="{9D8B030D-6E8A-4147-A177-3AD203B41FA5}">
                      <a16:colId xmlns:a16="http://schemas.microsoft.com/office/drawing/2014/main" val="3160722089"/>
                    </a:ext>
                  </a:extLst>
                </a:gridCol>
                <a:gridCol w="1553286">
                  <a:extLst>
                    <a:ext uri="{9D8B030D-6E8A-4147-A177-3AD203B41FA5}">
                      <a16:colId xmlns:a16="http://schemas.microsoft.com/office/drawing/2014/main" val="2737555655"/>
                    </a:ext>
                  </a:extLst>
                </a:gridCol>
              </a:tblGrid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Грейд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7131855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Количество навыков в вакансии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72723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Размер компании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975261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Московский фактор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1175620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Инфраструктура и администрирование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079718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Приволжский ФО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2926677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Центральный ФО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0080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Аналитика и хранение данных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4384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Южный + Северо-Кавказский ФО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709460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ТОП-работодатель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186394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Уральский ФО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219302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Сибирский ФО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228528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Разработка ПО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8930827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Управление продуктом и бизнесом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358522"/>
                  </a:ext>
                </a:extLst>
              </a:tr>
              <a:tr h="2141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ИТ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 (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Roboto Condensed" panose="02000000000000000000" pitchFamily="2" charset="0"/>
                          <a:ea typeface="Roboto Condensed" panose="02000000000000000000" pitchFamily="2" charset="0"/>
                        </a:rPr>
                        <a:t>отрасль)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Roboto Condensed" panose="02000000000000000000" pitchFamily="2" charset="0"/>
                        <a:ea typeface="Roboto Condensed" panose="02000000000000000000" pitchFamily="2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216433"/>
                  </a:ext>
                </a:extLst>
              </a:tr>
            </a:tbl>
          </a:graphicData>
        </a:graphic>
      </p:graphicFrame>
      <p:sp>
        <p:nvSpPr>
          <p:cNvPr id="27" name="Google Shape;150;p27">
            <a:extLst>
              <a:ext uri="{FF2B5EF4-FFF2-40B4-BE49-F238E27FC236}">
                <a16:creationId xmlns:a16="http://schemas.microsoft.com/office/drawing/2014/main" id="{55B195A7-A5D8-4247-B99E-8C0DA739437C}"/>
              </a:ext>
            </a:extLst>
          </p:cNvPr>
          <p:cNvSpPr/>
          <p:nvPr/>
        </p:nvSpPr>
        <p:spPr>
          <a:xfrm>
            <a:off x="4722653" y="887198"/>
            <a:ext cx="4074984" cy="56166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Средний абсолютный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SHAP, </a:t>
            </a:r>
            <a:r>
              <a:rPr kumimoji="0" lang="ru-RU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тыс.руб</a:t>
            </a: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l-GR" sz="2000" b="0" i="0" dirty="0">
                <a:solidFill>
                  <a:srgbClr val="333333"/>
                </a:solidFill>
                <a:effectLst/>
                <a:latin typeface="YS Text"/>
              </a:rPr>
              <a:t>Δ</a:t>
            </a:r>
            <a:r>
              <a:rPr lang="ru-RU" sz="2000" b="0" i="0" dirty="0">
                <a:solidFill>
                  <a:srgbClr val="333333"/>
                </a:solidFill>
                <a:effectLst/>
                <a:latin typeface="YS Text"/>
              </a:rPr>
              <a:t>)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" name="Google Shape;150;p27">
            <a:extLst>
              <a:ext uri="{FF2B5EF4-FFF2-40B4-BE49-F238E27FC236}">
                <a16:creationId xmlns:a16="http://schemas.microsoft.com/office/drawing/2014/main" id="{737716CB-75E6-4BAC-8FDA-F703719A679C}"/>
              </a:ext>
            </a:extLst>
          </p:cNvPr>
          <p:cNvSpPr/>
          <p:nvPr/>
        </p:nvSpPr>
        <p:spPr>
          <a:xfrm>
            <a:off x="282765" y="899083"/>
            <a:ext cx="4074984" cy="56166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Результаты моделирование 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7F4859-55F4-477B-8190-D68630524068}"/>
              </a:ext>
            </a:extLst>
          </p:cNvPr>
          <p:cNvSpPr txBox="1"/>
          <p:nvPr/>
        </p:nvSpPr>
        <p:spPr>
          <a:xfrm>
            <a:off x="438360" y="1577190"/>
            <a:ext cx="4074984" cy="20313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ru-RU" dirty="0">
                <a:latin typeface="Roboto Condensed" panose="02000000000000000000" pitchFamily="2" charset="0"/>
                <a:ea typeface="Roboto Condensed" panose="02000000000000000000" pitchFamily="2" charset="0"/>
              </a:rPr>
              <a:t>Лучшие результаты дала модель </a:t>
            </a:r>
            <a:r>
              <a:rPr lang="en-US" b="1" dirty="0" err="1">
                <a:latin typeface="Roboto Condensed" panose="02000000000000000000" pitchFamily="2" charset="0"/>
                <a:ea typeface="Roboto Condensed" panose="02000000000000000000" pitchFamily="2" charset="0"/>
              </a:rPr>
              <a:t>CatBoos</a:t>
            </a:r>
            <a:endParaRPr lang="ru-RU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endParaRPr lang="ru-RU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R² = 0.6</a:t>
            </a:r>
            <a:r>
              <a:rPr lang="ru-RU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36</a:t>
            </a:r>
            <a:r>
              <a:rPr lang="en-US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 </a:t>
            </a:r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</a:rPr>
              <a:t>(</a:t>
            </a:r>
            <a:r>
              <a:rPr lang="ru-RU" dirty="0">
                <a:latin typeface="Roboto Condensed" panose="02000000000000000000" pitchFamily="2" charset="0"/>
                <a:ea typeface="Roboto Condensed" panose="02000000000000000000" pitchFamily="2" charset="0"/>
              </a:rPr>
              <a:t>Коэффициент детерминации)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MAE = 40,573 руб. </a:t>
            </a:r>
            <a:r>
              <a:rPr lang="ru-RU" dirty="0">
                <a:latin typeface="Roboto Condensed" panose="02000000000000000000" pitchFamily="2" charset="0"/>
                <a:ea typeface="Roboto Condensed" panose="02000000000000000000" pitchFamily="2" charset="0"/>
              </a:rPr>
              <a:t>(Средняя абсолютная ошибка)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RMSE = 56,564</a:t>
            </a:r>
            <a:r>
              <a:rPr lang="ru-RU" dirty="0">
                <a:latin typeface="Roboto Condensed" panose="02000000000000000000" pitchFamily="2" charset="0"/>
                <a:ea typeface="Roboto Condensed" panose="02000000000000000000" pitchFamily="2" charset="0"/>
              </a:rPr>
              <a:t> (Корень из среднеквадратичной ошибки)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7BEAB6-A706-47CA-95EB-446FE8FDAD3B}"/>
              </a:ext>
            </a:extLst>
          </p:cNvPr>
          <p:cNvSpPr txBox="1"/>
          <p:nvPr/>
        </p:nvSpPr>
        <p:spPr>
          <a:xfrm>
            <a:off x="469656" y="3637721"/>
            <a:ext cx="407498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Roboto Condensed" panose="02000000000000000000" pitchFamily="2" charset="0"/>
                <a:ea typeface="Roboto Condensed" panose="02000000000000000000" pitchFamily="2" charset="0"/>
              </a:rPr>
              <a:t>Ключевые факторы влияния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Roboto Condensed" panose="02000000000000000000" pitchFamily="2" charset="0"/>
                <a:ea typeface="Roboto Condensed" panose="02000000000000000000" pitchFamily="2" charset="0"/>
              </a:rPr>
              <a:t>Грейд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Roboto Condensed" panose="02000000000000000000" pitchFamily="2" charset="0"/>
                <a:ea typeface="Roboto Condensed" panose="02000000000000000000" pitchFamily="2" charset="0"/>
              </a:rPr>
              <a:t>Количество упомянутых в вакансии навыков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Roboto Condensed" panose="02000000000000000000" pitchFamily="2" charset="0"/>
                <a:ea typeface="Roboto Condensed" panose="02000000000000000000" pitchFamily="2" charset="0"/>
              </a:rPr>
              <a:t>Размер компании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Roboto Condensed" panose="02000000000000000000" pitchFamily="2" charset="0"/>
                <a:ea typeface="Roboto Condensed" panose="02000000000000000000" pitchFamily="2" charset="0"/>
              </a:rPr>
              <a:t>Московский фактор</a:t>
            </a:r>
          </a:p>
          <a:p>
            <a:endParaRPr lang="ru-RU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endParaRPr lang="ru-RU" dirty="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39" name="Google Shape;139;p26">
            <a:extLst>
              <a:ext uri="{FF2B5EF4-FFF2-40B4-BE49-F238E27FC236}">
                <a16:creationId xmlns:a16="http://schemas.microsoft.com/office/drawing/2014/main" id="{29FE78B4-CFAF-43AE-A982-363019DDD419}"/>
              </a:ext>
            </a:extLst>
          </p:cNvPr>
          <p:cNvSpPr/>
          <p:nvPr/>
        </p:nvSpPr>
        <p:spPr>
          <a:xfrm>
            <a:off x="198814" y="1548936"/>
            <a:ext cx="303487" cy="303487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Google Shape;139;p26">
            <a:extLst>
              <a:ext uri="{FF2B5EF4-FFF2-40B4-BE49-F238E27FC236}">
                <a16:creationId xmlns:a16="http://schemas.microsoft.com/office/drawing/2014/main" id="{5A2D9080-D721-4B7B-A117-C55FFBD1ED27}"/>
              </a:ext>
            </a:extLst>
          </p:cNvPr>
          <p:cNvSpPr/>
          <p:nvPr/>
        </p:nvSpPr>
        <p:spPr>
          <a:xfrm>
            <a:off x="160838" y="3647969"/>
            <a:ext cx="303487" cy="303487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2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149;p27">
            <a:extLst>
              <a:ext uri="{FF2B5EF4-FFF2-40B4-BE49-F238E27FC236}">
                <a16:creationId xmlns:a16="http://schemas.microsoft.com/office/drawing/2014/main" id="{ECE4FA69-B982-49E4-A6DC-ECEE1C71E75D}"/>
              </a:ext>
            </a:extLst>
          </p:cNvPr>
          <p:cNvSpPr txBox="1"/>
          <p:nvPr/>
        </p:nvSpPr>
        <p:spPr>
          <a:xfrm>
            <a:off x="257174" y="300038"/>
            <a:ext cx="9294330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МЕТОДОЛОГИЯ РАБОТЫ: ЭТАП МОДЕЛИРОВАНИЯ</a:t>
            </a:r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FA85A8EA-C809-4C52-BF54-D8646A07F8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5642202"/>
              </p:ext>
            </p:extLst>
          </p:nvPr>
        </p:nvGraphicFramePr>
        <p:xfrm>
          <a:off x="5742354" y="1579083"/>
          <a:ext cx="3725967" cy="31709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59290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3;p30">
            <a:extLst>
              <a:ext uri="{FF2B5EF4-FFF2-40B4-BE49-F238E27FC236}">
                <a16:creationId xmlns:a16="http://schemas.microsoft.com/office/drawing/2014/main" id="{4661F90B-0A70-4734-9B31-FAA65EC9877A}"/>
              </a:ext>
            </a:extLst>
          </p:cNvPr>
          <p:cNvSpPr/>
          <p:nvPr/>
        </p:nvSpPr>
        <p:spPr>
          <a:xfrm>
            <a:off x="484940" y="1104052"/>
            <a:ext cx="4068000" cy="69747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Гипотеза 1 подтвердилась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. Грейд является одним из ключевых факторов, оказывающих влияние на зарплатное предложение ИТ-специалистов</a:t>
            </a:r>
          </a:p>
        </p:txBody>
      </p:sp>
      <p:sp>
        <p:nvSpPr>
          <p:cNvPr id="10" name="Google Shape;203;p30">
            <a:extLst>
              <a:ext uri="{FF2B5EF4-FFF2-40B4-BE49-F238E27FC236}">
                <a16:creationId xmlns:a16="http://schemas.microsoft.com/office/drawing/2014/main" id="{BCB2F8B1-0044-4390-92B0-4842CF753883}"/>
              </a:ext>
            </a:extLst>
          </p:cNvPr>
          <p:cNvSpPr/>
          <p:nvPr/>
        </p:nvSpPr>
        <p:spPr>
          <a:xfrm>
            <a:off x="4845747" y="1105200"/>
            <a:ext cx="4067959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Гипотеза 2 подтвердилась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. Формальное образование не показало понятной самостоятельной зарплатной премии для ИТ-специалистов</a:t>
            </a:r>
          </a:p>
        </p:txBody>
      </p:sp>
      <p:sp>
        <p:nvSpPr>
          <p:cNvPr id="18" name="Google Shape;203;p30">
            <a:extLst>
              <a:ext uri="{FF2B5EF4-FFF2-40B4-BE49-F238E27FC236}">
                <a16:creationId xmlns:a16="http://schemas.microsoft.com/office/drawing/2014/main" id="{F0A54651-46C2-491A-AE34-B42D1AE9CF34}"/>
              </a:ext>
            </a:extLst>
          </p:cNvPr>
          <p:cNvSpPr/>
          <p:nvPr/>
        </p:nvSpPr>
        <p:spPr>
          <a:xfrm>
            <a:off x="480625" y="2063954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Гипотеза 3 подтвердилась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. Зарплатная медиана постепенно увеличивается с ростом размера организации</a:t>
            </a:r>
          </a:p>
        </p:txBody>
      </p:sp>
      <p:sp>
        <p:nvSpPr>
          <p:cNvPr id="20" name="Google Shape;203;p30">
            <a:extLst>
              <a:ext uri="{FF2B5EF4-FFF2-40B4-BE49-F238E27FC236}">
                <a16:creationId xmlns:a16="http://schemas.microsoft.com/office/drawing/2014/main" id="{BA0853AD-AA24-4F1B-8F5C-0D1C6C3FF49D}"/>
              </a:ext>
            </a:extLst>
          </p:cNvPr>
          <p:cNvSpPr/>
          <p:nvPr/>
        </p:nvSpPr>
        <p:spPr>
          <a:xfrm>
            <a:off x="4841431" y="2063954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Гипотеза 4 частично подтвердилась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. География значительно связана с уровнем оплаты, причем важна именно географическая принадлежность к столице</a:t>
            </a:r>
          </a:p>
        </p:txBody>
      </p:sp>
      <p:sp>
        <p:nvSpPr>
          <p:cNvPr id="11" name="Google Shape;203;p30">
            <a:extLst>
              <a:ext uri="{FF2B5EF4-FFF2-40B4-BE49-F238E27FC236}">
                <a16:creationId xmlns:a16="http://schemas.microsoft.com/office/drawing/2014/main" id="{3D3C036A-E383-41E1-9181-B440C9676768}"/>
              </a:ext>
            </a:extLst>
          </p:cNvPr>
          <p:cNvSpPr/>
          <p:nvPr/>
        </p:nvSpPr>
        <p:spPr>
          <a:xfrm>
            <a:off x="441050" y="3035264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Гипотеза 5 подтвердилась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. ИТ-направление и специализация влияют на зарплатное предложение</a:t>
            </a:r>
          </a:p>
        </p:txBody>
      </p:sp>
      <p:sp>
        <p:nvSpPr>
          <p:cNvPr id="12" name="Google Shape;203;p30">
            <a:extLst>
              <a:ext uri="{FF2B5EF4-FFF2-40B4-BE49-F238E27FC236}">
                <a16:creationId xmlns:a16="http://schemas.microsoft.com/office/drawing/2014/main" id="{7B580347-C8FD-4E85-AF6B-BB159736369B}"/>
              </a:ext>
            </a:extLst>
          </p:cNvPr>
          <p:cNvSpPr/>
          <p:nvPr/>
        </p:nvSpPr>
        <p:spPr>
          <a:xfrm>
            <a:off x="4841431" y="3035264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Гипотеза 6 частично подтвердилась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. ИИ-компетенции связаны с более высокими зарплатами, но не являются независимым фактором</a:t>
            </a:r>
          </a:p>
        </p:txBody>
      </p:sp>
      <p:sp>
        <p:nvSpPr>
          <p:cNvPr id="13" name="Google Shape;203;p30">
            <a:extLst>
              <a:ext uri="{FF2B5EF4-FFF2-40B4-BE49-F238E27FC236}">
                <a16:creationId xmlns:a16="http://schemas.microsoft.com/office/drawing/2014/main" id="{41E66697-DBEF-4699-AC55-16063A07591A}"/>
              </a:ext>
            </a:extLst>
          </p:cNvPr>
          <p:cNvSpPr/>
          <p:nvPr/>
        </p:nvSpPr>
        <p:spPr>
          <a:xfrm>
            <a:off x="441050" y="4039448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Гипотеза 7 подтвердилась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. Наиболее распространенные навыки не обязательно являются наиболее дорогими</a:t>
            </a:r>
          </a:p>
        </p:txBody>
      </p:sp>
      <p:sp>
        <p:nvSpPr>
          <p:cNvPr id="19" name="Google Shape;203;p30">
            <a:extLst>
              <a:ext uri="{FF2B5EF4-FFF2-40B4-BE49-F238E27FC236}">
                <a16:creationId xmlns:a16="http://schemas.microsoft.com/office/drawing/2014/main" id="{B8356F45-27AC-49F0-BCA0-AE8EC050DB01}"/>
              </a:ext>
            </a:extLst>
          </p:cNvPr>
          <p:cNvSpPr/>
          <p:nvPr/>
        </p:nvSpPr>
        <p:spPr>
          <a:xfrm>
            <a:off x="4841431" y="4038300"/>
            <a:ext cx="4068000" cy="698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Гипотеза 8 частично подтвердилась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. Наиболее высокие зарплаты представлены в вакансиях компаний из отраслей, где ИТ-продукты являются ключевыми</a:t>
            </a:r>
          </a:p>
        </p:txBody>
      </p:sp>
      <p:sp>
        <p:nvSpPr>
          <p:cNvPr id="22" name="Google Shape;139;p26">
            <a:extLst>
              <a:ext uri="{FF2B5EF4-FFF2-40B4-BE49-F238E27FC236}">
                <a16:creationId xmlns:a16="http://schemas.microsoft.com/office/drawing/2014/main" id="{1302CBFE-CCD9-43FE-A240-AB4BDFF03749}"/>
              </a:ext>
            </a:extLst>
          </p:cNvPr>
          <p:cNvSpPr/>
          <p:nvPr/>
        </p:nvSpPr>
        <p:spPr>
          <a:xfrm>
            <a:off x="330056" y="973815"/>
            <a:ext cx="292284" cy="29228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139;p26">
            <a:extLst>
              <a:ext uri="{FF2B5EF4-FFF2-40B4-BE49-F238E27FC236}">
                <a16:creationId xmlns:a16="http://schemas.microsoft.com/office/drawing/2014/main" id="{E3AB3C40-90EF-4C0B-9867-35A9C6CAF923}"/>
              </a:ext>
            </a:extLst>
          </p:cNvPr>
          <p:cNvSpPr/>
          <p:nvPr/>
        </p:nvSpPr>
        <p:spPr>
          <a:xfrm>
            <a:off x="4695289" y="973815"/>
            <a:ext cx="292284" cy="29228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2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139;p26">
            <a:extLst>
              <a:ext uri="{FF2B5EF4-FFF2-40B4-BE49-F238E27FC236}">
                <a16:creationId xmlns:a16="http://schemas.microsoft.com/office/drawing/2014/main" id="{6A168216-7D65-4132-BCB5-D728545975A9}"/>
              </a:ext>
            </a:extLst>
          </p:cNvPr>
          <p:cNvSpPr/>
          <p:nvPr/>
        </p:nvSpPr>
        <p:spPr>
          <a:xfrm>
            <a:off x="308110" y="1909267"/>
            <a:ext cx="292284" cy="284922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3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139;p26">
            <a:extLst>
              <a:ext uri="{FF2B5EF4-FFF2-40B4-BE49-F238E27FC236}">
                <a16:creationId xmlns:a16="http://schemas.microsoft.com/office/drawing/2014/main" id="{838DE0BF-90B3-4F2B-8FD0-ABE917ACC341}"/>
              </a:ext>
            </a:extLst>
          </p:cNvPr>
          <p:cNvSpPr/>
          <p:nvPr/>
        </p:nvSpPr>
        <p:spPr>
          <a:xfrm>
            <a:off x="4666028" y="1901905"/>
            <a:ext cx="292284" cy="29228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4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139;p26">
            <a:extLst>
              <a:ext uri="{FF2B5EF4-FFF2-40B4-BE49-F238E27FC236}">
                <a16:creationId xmlns:a16="http://schemas.microsoft.com/office/drawing/2014/main" id="{6B4EE915-9EDE-4612-A460-5B0CE363FB4D}"/>
              </a:ext>
            </a:extLst>
          </p:cNvPr>
          <p:cNvSpPr/>
          <p:nvPr/>
        </p:nvSpPr>
        <p:spPr>
          <a:xfrm>
            <a:off x="318270" y="2945587"/>
            <a:ext cx="292284" cy="284922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5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139;p26">
            <a:extLst>
              <a:ext uri="{FF2B5EF4-FFF2-40B4-BE49-F238E27FC236}">
                <a16:creationId xmlns:a16="http://schemas.microsoft.com/office/drawing/2014/main" id="{904B74EF-25AB-4E8D-9E33-38FA28DD9549}"/>
              </a:ext>
            </a:extLst>
          </p:cNvPr>
          <p:cNvSpPr/>
          <p:nvPr/>
        </p:nvSpPr>
        <p:spPr>
          <a:xfrm>
            <a:off x="4676188" y="2973125"/>
            <a:ext cx="292284" cy="29228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6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139;p26">
            <a:extLst>
              <a:ext uri="{FF2B5EF4-FFF2-40B4-BE49-F238E27FC236}">
                <a16:creationId xmlns:a16="http://schemas.microsoft.com/office/drawing/2014/main" id="{E41B0A58-D8A7-43E6-A504-5B31E4EE3682}"/>
              </a:ext>
            </a:extLst>
          </p:cNvPr>
          <p:cNvSpPr/>
          <p:nvPr/>
        </p:nvSpPr>
        <p:spPr>
          <a:xfrm>
            <a:off x="321582" y="3863303"/>
            <a:ext cx="292284" cy="284922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7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139;p26">
            <a:extLst>
              <a:ext uri="{FF2B5EF4-FFF2-40B4-BE49-F238E27FC236}">
                <a16:creationId xmlns:a16="http://schemas.microsoft.com/office/drawing/2014/main" id="{8E657966-8CB7-41A8-A753-4B8A0BE6423F}"/>
              </a:ext>
            </a:extLst>
          </p:cNvPr>
          <p:cNvSpPr/>
          <p:nvPr/>
        </p:nvSpPr>
        <p:spPr>
          <a:xfrm>
            <a:off x="4679500" y="3890841"/>
            <a:ext cx="292284" cy="29228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8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Google Shape;149;p27">
            <a:extLst>
              <a:ext uri="{FF2B5EF4-FFF2-40B4-BE49-F238E27FC236}">
                <a16:creationId xmlns:a16="http://schemas.microsoft.com/office/drawing/2014/main" id="{80024887-7AEA-4119-A800-8A941800FD50}"/>
              </a:ext>
            </a:extLst>
          </p:cNvPr>
          <p:cNvSpPr txBox="1"/>
          <p:nvPr/>
        </p:nvSpPr>
        <p:spPr>
          <a:xfrm>
            <a:off x="257174" y="300038"/>
            <a:ext cx="7575947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2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ОБЩИЕ ВЫВОДЫ</a:t>
            </a:r>
            <a:endParaRPr kumimoji="0" lang="ru-RU" sz="32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98170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3;p30">
            <a:extLst>
              <a:ext uri="{FF2B5EF4-FFF2-40B4-BE49-F238E27FC236}">
                <a16:creationId xmlns:a16="http://schemas.microsoft.com/office/drawing/2014/main" id="{4661F90B-0A70-4734-9B31-FAA65EC9877A}"/>
              </a:ext>
            </a:extLst>
          </p:cNvPr>
          <p:cNvSpPr/>
          <p:nvPr/>
        </p:nvSpPr>
        <p:spPr>
          <a:xfrm>
            <a:off x="945660" y="765474"/>
            <a:ext cx="7071290" cy="69149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Сравнивать зарплатные вилки не со средним по всему ИТ-рынку, а внутри конкретной   комбинации грейда, роли, региона и размера компании</a:t>
            </a:r>
          </a:p>
        </p:txBody>
      </p:sp>
      <p:sp>
        <p:nvSpPr>
          <p:cNvPr id="15" name="Google Shape;139;p26">
            <a:extLst>
              <a:ext uri="{FF2B5EF4-FFF2-40B4-BE49-F238E27FC236}">
                <a16:creationId xmlns:a16="http://schemas.microsoft.com/office/drawing/2014/main" id="{EA5CD989-5406-4626-940F-DFF5BDE0E6A6}"/>
              </a:ext>
            </a:extLst>
          </p:cNvPr>
          <p:cNvSpPr/>
          <p:nvPr/>
        </p:nvSpPr>
        <p:spPr>
          <a:xfrm>
            <a:off x="315357" y="801541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 dirty="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1100" dirty="0"/>
          </a:p>
        </p:txBody>
      </p:sp>
      <p:sp>
        <p:nvSpPr>
          <p:cNvPr id="11" name="Google Shape;203;p30">
            <a:extLst>
              <a:ext uri="{FF2B5EF4-FFF2-40B4-BE49-F238E27FC236}">
                <a16:creationId xmlns:a16="http://schemas.microsoft.com/office/drawing/2014/main" id="{48A1BC7A-D119-4AB0-9958-4EF13D72CF2B}"/>
              </a:ext>
            </a:extLst>
          </p:cNvPr>
          <p:cNvSpPr/>
          <p:nvPr/>
        </p:nvSpPr>
        <p:spPr>
          <a:xfrm>
            <a:off x="945660" y="1604007"/>
            <a:ext cx="7071290" cy="69149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Не использовать одну универсальную зарплатную сетку для всех ИТ-направлений</a:t>
            </a:r>
          </a:p>
        </p:txBody>
      </p:sp>
      <p:sp>
        <p:nvSpPr>
          <p:cNvPr id="12" name="Google Shape;139;p26">
            <a:extLst>
              <a:ext uri="{FF2B5EF4-FFF2-40B4-BE49-F238E27FC236}">
                <a16:creationId xmlns:a16="http://schemas.microsoft.com/office/drawing/2014/main" id="{84DD64F7-F7C0-4425-91C8-13E9797F81CB}"/>
              </a:ext>
            </a:extLst>
          </p:cNvPr>
          <p:cNvSpPr/>
          <p:nvPr/>
        </p:nvSpPr>
        <p:spPr>
          <a:xfrm>
            <a:off x="315357" y="1640074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2</a:t>
            </a:r>
            <a:endParaRPr sz="1100" dirty="0"/>
          </a:p>
        </p:txBody>
      </p:sp>
      <p:sp>
        <p:nvSpPr>
          <p:cNvPr id="13" name="Google Shape;203;p30">
            <a:extLst>
              <a:ext uri="{FF2B5EF4-FFF2-40B4-BE49-F238E27FC236}">
                <a16:creationId xmlns:a16="http://schemas.microsoft.com/office/drawing/2014/main" id="{1ACB367C-649B-4CEB-A55B-2C082F4CEBBD}"/>
              </a:ext>
            </a:extLst>
          </p:cNvPr>
          <p:cNvSpPr/>
          <p:nvPr/>
        </p:nvSpPr>
        <p:spPr>
          <a:xfrm>
            <a:off x="942683" y="2444159"/>
            <a:ext cx="7071290" cy="69149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Учитывать повышенную конкуренцию за специалистов с инженерными, Data- и AI-компетенциями (профильными)</a:t>
            </a:r>
          </a:p>
        </p:txBody>
      </p:sp>
      <p:sp>
        <p:nvSpPr>
          <p:cNvPr id="19" name="Google Shape;139;p26">
            <a:extLst>
              <a:ext uri="{FF2B5EF4-FFF2-40B4-BE49-F238E27FC236}">
                <a16:creationId xmlns:a16="http://schemas.microsoft.com/office/drawing/2014/main" id="{DD5023AD-041A-4FB7-88F9-7B828BD03554}"/>
              </a:ext>
            </a:extLst>
          </p:cNvPr>
          <p:cNvSpPr/>
          <p:nvPr/>
        </p:nvSpPr>
        <p:spPr>
          <a:xfrm>
            <a:off x="339259" y="2444159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3</a:t>
            </a:r>
            <a:endParaRPr sz="1100" dirty="0"/>
          </a:p>
        </p:txBody>
      </p:sp>
      <p:sp>
        <p:nvSpPr>
          <p:cNvPr id="22" name="Google Shape;203;p30">
            <a:extLst>
              <a:ext uri="{FF2B5EF4-FFF2-40B4-BE49-F238E27FC236}">
                <a16:creationId xmlns:a16="http://schemas.microsoft.com/office/drawing/2014/main" id="{BA7835C9-A216-4101-BB43-EFCF6FE9A375}"/>
              </a:ext>
            </a:extLst>
          </p:cNvPr>
          <p:cNvSpPr/>
          <p:nvPr/>
        </p:nvSpPr>
        <p:spPr>
          <a:xfrm>
            <a:off x="969562" y="3305827"/>
            <a:ext cx="7071290" cy="69149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Требования вакансий должны быть реалистичными</a:t>
            </a:r>
          </a:p>
        </p:txBody>
      </p:sp>
      <p:sp>
        <p:nvSpPr>
          <p:cNvPr id="24" name="Google Shape;139;p26">
            <a:extLst>
              <a:ext uri="{FF2B5EF4-FFF2-40B4-BE49-F238E27FC236}">
                <a16:creationId xmlns:a16="http://schemas.microsoft.com/office/drawing/2014/main" id="{A874385F-0D39-4F44-B1F5-46BA7CF44423}"/>
              </a:ext>
            </a:extLst>
          </p:cNvPr>
          <p:cNvSpPr/>
          <p:nvPr/>
        </p:nvSpPr>
        <p:spPr>
          <a:xfrm>
            <a:off x="339259" y="3341894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4</a:t>
            </a:r>
            <a:endParaRPr sz="1100" dirty="0"/>
          </a:p>
        </p:txBody>
      </p:sp>
      <p:sp>
        <p:nvSpPr>
          <p:cNvPr id="25" name="Google Shape;203;p30">
            <a:extLst>
              <a:ext uri="{FF2B5EF4-FFF2-40B4-BE49-F238E27FC236}">
                <a16:creationId xmlns:a16="http://schemas.microsoft.com/office/drawing/2014/main" id="{6E09A5CD-C6E8-4839-A0F8-AA798EA03AC8}"/>
              </a:ext>
            </a:extLst>
          </p:cNvPr>
          <p:cNvSpPr/>
          <p:nvPr/>
        </p:nvSpPr>
        <p:spPr>
          <a:xfrm>
            <a:off x="969562" y="4118674"/>
            <a:ext cx="7071290" cy="69149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Использовать медиану, а не среднее значение рынка</a:t>
            </a:r>
          </a:p>
        </p:txBody>
      </p:sp>
      <p:sp>
        <p:nvSpPr>
          <p:cNvPr id="26" name="Google Shape;139;p26">
            <a:extLst>
              <a:ext uri="{FF2B5EF4-FFF2-40B4-BE49-F238E27FC236}">
                <a16:creationId xmlns:a16="http://schemas.microsoft.com/office/drawing/2014/main" id="{58651D70-5843-4353-A471-F47FABF66F0C}"/>
              </a:ext>
            </a:extLst>
          </p:cNvPr>
          <p:cNvSpPr/>
          <p:nvPr/>
        </p:nvSpPr>
        <p:spPr>
          <a:xfrm>
            <a:off x="339259" y="4154741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 dirty="0">
                <a:solidFill>
                  <a:schemeClr val="lt1"/>
                </a:solidFill>
                <a:latin typeface="Roboto Condensed"/>
                <a:ea typeface="Roboto Condensed"/>
                <a:sym typeface="Roboto Condensed"/>
              </a:rPr>
              <a:t>5</a:t>
            </a:r>
            <a:endParaRPr sz="1100" dirty="0"/>
          </a:p>
        </p:txBody>
      </p:sp>
      <p:sp>
        <p:nvSpPr>
          <p:cNvPr id="16" name="Google Shape;149;p27">
            <a:extLst>
              <a:ext uri="{FF2B5EF4-FFF2-40B4-BE49-F238E27FC236}">
                <a16:creationId xmlns:a16="http://schemas.microsoft.com/office/drawing/2014/main" id="{FF0229F4-D25C-42AD-AF36-F517A856159A}"/>
              </a:ext>
            </a:extLst>
          </p:cNvPr>
          <p:cNvSpPr txBox="1"/>
          <p:nvPr/>
        </p:nvSpPr>
        <p:spPr>
          <a:xfrm>
            <a:off x="257174" y="203785"/>
            <a:ext cx="8973453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28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ПРАКТИЧЕСКИЕ РЕКОМЕНДАЦИИ: РАБОТОДАТЕЛИ</a:t>
            </a:r>
          </a:p>
        </p:txBody>
      </p:sp>
    </p:spTree>
    <p:extLst>
      <p:ext uri="{BB962C8B-B14F-4D97-AF65-F5344CB8AC3E}">
        <p14:creationId xmlns:p14="http://schemas.microsoft.com/office/powerpoint/2010/main" val="76239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3;p30">
            <a:extLst>
              <a:ext uri="{FF2B5EF4-FFF2-40B4-BE49-F238E27FC236}">
                <a16:creationId xmlns:a16="http://schemas.microsoft.com/office/drawing/2014/main" id="{4661F90B-0A70-4734-9B31-FAA65EC9877A}"/>
              </a:ext>
            </a:extLst>
          </p:cNvPr>
          <p:cNvSpPr/>
          <p:nvPr/>
        </p:nvSpPr>
        <p:spPr>
          <a:xfrm>
            <a:off x="760495" y="895014"/>
            <a:ext cx="7713695" cy="69149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При выборе направления для развития важно учитывать не только количество вакансий, но и долгосрочный зарплатный потенциал в данной сфере</a:t>
            </a:r>
          </a:p>
        </p:txBody>
      </p:sp>
      <p:sp>
        <p:nvSpPr>
          <p:cNvPr id="15" name="Google Shape;139;p26">
            <a:extLst>
              <a:ext uri="{FF2B5EF4-FFF2-40B4-BE49-F238E27FC236}">
                <a16:creationId xmlns:a16="http://schemas.microsoft.com/office/drawing/2014/main" id="{EA5CD989-5406-4626-940F-DFF5BDE0E6A6}"/>
              </a:ext>
            </a:extLst>
          </p:cNvPr>
          <p:cNvSpPr/>
          <p:nvPr/>
        </p:nvSpPr>
        <p:spPr>
          <a:xfrm>
            <a:off x="230295" y="931081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203;p30">
            <a:extLst>
              <a:ext uri="{FF2B5EF4-FFF2-40B4-BE49-F238E27FC236}">
                <a16:creationId xmlns:a16="http://schemas.microsoft.com/office/drawing/2014/main" id="{48A1BC7A-D119-4AB0-9958-4EF13D72CF2B}"/>
              </a:ext>
            </a:extLst>
          </p:cNvPr>
          <p:cNvSpPr/>
          <p:nvPr/>
        </p:nvSpPr>
        <p:spPr>
          <a:xfrm>
            <a:off x="760495" y="1786887"/>
            <a:ext cx="7737597" cy="69149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Вместо формального образования инвестировать в рост практической экспертизы. Для этого важно развивать сочетания навыков, а не отдельную технологию и углубленное изучение целевых ИТ-навыков</a:t>
            </a:r>
          </a:p>
        </p:txBody>
      </p:sp>
      <p:sp>
        <p:nvSpPr>
          <p:cNvPr id="12" name="Google Shape;139;p26">
            <a:extLst>
              <a:ext uri="{FF2B5EF4-FFF2-40B4-BE49-F238E27FC236}">
                <a16:creationId xmlns:a16="http://schemas.microsoft.com/office/drawing/2014/main" id="{84DD64F7-F7C0-4425-91C8-13E9797F81CB}"/>
              </a:ext>
            </a:extLst>
          </p:cNvPr>
          <p:cNvSpPr/>
          <p:nvPr/>
        </p:nvSpPr>
        <p:spPr>
          <a:xfrm>
            <a:off x="230295" y="1822954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2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149;p27">
            <a:extLst>
              <a:ext uri="{FF2B5EF4-FFF2-40B4-BE49-F238E27FC236}">
                <a16:creationId xmlns:a16="http://schemas.microsoft.com/office/drawing/2014/main" id="{FF0229F4-D25C-42AD-AF36-F517A856159A}"/>
              </a:ext>
            </a:extLst>
          </p:cNvPr>
          <p:cNvSpPr txBox="1"/>
          <p:nvPr/>
        </p:nvSpPr>
        <p:spPr>
          <a:xfrm>
            <a:off x="257174" y="203785"/>
            <a:ext cx="8973453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8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ПРАКТИЧЕСКИЕ РЕКОМЕНДАЦИИ: СОИСКАТЕЛИ</a:t>
            </a:r>
          </a:p>
        </p:txBody>
      </p:sp>
      <p:sp>
        <p:nvSpPr>
          <p:cNvPr id="17" name="Google Shape;203;p30">
            <a:extLst>
              <a:ext uri="{FF2B5EF4-FFF2-40B4-BE49-F238E27FC236}">
                <a16:creationId xmlns:a16="http://schemas.microsoft.com/office/drawing/2014/main" id="{4CB13944-33BB-487F-AA64-2CCB9890D9DC}"/>
              </a:ext>
            </a:extLst>
          </p:cNvPr>
          <p:cNvSpPr/>
          <p:nvPr/>
        </p:nvSpPr>
        <p:spPr>
          <a:xfrm>
            <a:off x="760495" y="2762247"/>
            <a:ext cx="7737597" cy="69149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lang="ru-RU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В рамках подготовки к выходу на ИТ-рынок</a:t>
            </a: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важно рассматривать ИИ и ML как перспективное «качественное» дополнение к основной специализации</a:t>
            </a:r>
          </a:p>
        </p:txBody>
      </p:sp>
      <p:sp>
        <p:nvSpPr>
          <p:cNvPr id="18" name="Google Shape;139;p26">
            <a:extLst>
              <a:ext uri="{FF2B5EF4-FFF2-40B4-BE49-F238E27FC236}">
                <a16:creationId xmlns:a16="http://schemas.microsoft.com/office/drawing/2014/main" id="{E83732FB-9258-4430-87AC-DD16EF07BA96}"/>
              </a:ext>
            </a:extLst>
          </p:cNvPr>
          <p:cNvSpPr/>
          <p:nvPr/>
        </p:nvSpPr>
        <p:spPr>
          <a:xfrm>
            <a:off x="230295" y="2798314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3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203;p30">
            <a:extLst>
              <a:ext uri="{FF2B5EF4-FFF2-40B4-BE49-F238E27FC236}">
                <a16:creationId xmlns:a16="http://schemas.microsoft.com/office/drawing/2014/main" id="{20642DCD-058F-46C5-AC0D-6548BCD5CFBE}"/>
              </a:ext>
            </a:extLst>
          </p:cNvPr>
          <p:cNvSpPr/>
          <p:nvPr/>
        </p:nvSpPr>
        <p:spPr>
          <a:xfrm>
            <a:off x="768115" y="3699507"/>
            <a:ext cx="7737597" cy="69149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  <a:defRPr/>
            </a:pPr>
            <a:r>
              <a:rPr kumimoji="0" lang="ru-RU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При поиске работы соискателям важно учитывать географию и тип работодателя</a:t>
            </a:r>
          </a:p>
        </p:txBody>
      </p:sp>
      <p:sp>
        <p:nvSpPr>
          <p:cNvPr id="21" name="Google Shape;139;p26">
            <a:extLst>
              <a:ext uri="{FF2B5EF4-FFF2-40B4-BE49-F238E27FC236}">
                <a16:creationId xmlns:a16="http://schemas.microsoft.com/office/drawing/2014/main" id="{870AE4E9-7596-4427-B10F-0A643562B7F9}"/>
              </a:ext>
            </a:extLst>
          </p:cNvPr>
          <p:cNvSpPr/>
          <p:nvPr/>
        </p:nvSpPr>
        <p:spPr>
          <a:xfrm>
            <a:off x="237915" y="3735574"/>
            <a:ext cx="415499" cy="415499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4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6288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3;p30">
            <a:extLst>
              <a:ext uri="{FF2B5EF4-FFF2-40B4-BE49-F238E27FC236}">
                <a16:creationId xmlns:a16="http://schemas.microsoft.com/office/drawing/2014/main" id="{4661F90B-0A70-4734-9B31-FAA65EC9877A}"/>
              </a:ext>
            </a:extLst>
          </p:cNvPr>
          <p:cNvSpPr/>
          <p:nvPr/>
        </p:nvSpPr>
        <p:spPr>
          <a:xfrm>
            <a:off x="148442" y="1104052"/>
            <a:ext cx="3880220" cy="138587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Выборка не является полностью репрезентативной для всего российского ИТ-рынка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Степень заполнения признаков неодинакова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Крупнейший агрегатор вакансий (</a:t>
            </a:r>
            <a:r>
              <a:rPr kumimoji="0" lang="ru-RU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hh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 не учтен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Часть признаков была размечена вручную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Данные ограничены одним временным периодом</a:t>
            </a:r>
          </a:p>
        </p:txBody>
      </p:sp>
      <p:sp>
        <p:nvSpPr>
          <p:cNvPr id="21" name="Google Shape;138;p26">
            <a:extLst>
              <a:ext uri="{FF2B5EF4-FFF2-40B4-BE49-F238E27FC236}">
                <a16:creationId xmlns:a16="http://schemas.microsoft.com/office/drawing/2014/main" id="{03E17E91-E593-4948-9B94-88AD7F48EEAB}"/>
              </a:ext>
            </a:extLst>
          </p:cNvPr>
          <p:cNvSpPr txBox="1"/>
          <p:nvPr/>
        </p:nvSpPr>
        <p:spPr>
          <a:xfrm>
            <a:off x="257175" y="29695"/>
            <a:ext cx="7833088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3000" b="1" dirty="0">
                <a:solidFill>
                  <a:srgbClr val="0B2C69"/>
                </a:solidFill>
              </a:rPr>
              <a:t>ОГРАНИЧЕНИЯ ПРОЕКТА</a:t>
            </a:r>
            <a:endParaRPr kumimoji="0" lang="ru-RU" sz="30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50;p27">
            <a:extLst>
              <a:ext uri="{FF2B5EF4-FFF2-40B4-BE49-F238E27FC236}">
                <a16:creationId xmlns:a16="http://schemas.microsoft.com/office/drawing/2014/main" id="{5C50102D-E1F6-48AF-B670-0F2FEF11D75F}"/>
              </a:ext>
            </a:extLst>
          </p:cNvPr>
          <p:cNvSpPr/>
          <p:nvPr/>
        </p:nvSpPr>
        <p:spPr>
          <a:xfrm>
            <a:off x="86921" y="749708"/>
            <a:ext cx="3941741" cy="45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ВЫБОРКА</a:t>
            </a:r>
          </a:p>
        </p:txBody>
      </p:sp>
      <p:sp>
        <p:nvSpPr>
          <p:cNvPr id="10" name="Google Shape;203;p30">
            <a:extLst>
              <a:ext uri="{FF2B5EF4-FFF2-40B4-BE49-F238E27FC236}">
                <a16:creationId xmlns:a16="http://schemas.microsoft.com/office/drawing/2014/main" id="{BCB2F8B1-0044-4390-92B0-4842CF753883}"/>
              </a:ext>
            </a:extLst>
          </p:cNvPr>
          <p:cNvSpPr/>
          <p:nvPr/>
        </p:nvSpPr>
        <p:spPr>
          <a:xfrm>
            <a:off x="4845747" y="1049866"/>
            <a:ext cx="4067959" cy="144005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В анализ попали только вакансии с указанной зарплатой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Анализируются предложения работодателей, а не фактические доходы специалистов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Не всегда известно, указана ли зарплата до</a:t>
            </a: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/</a:t>
            </a: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после налогов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Для вакансий только с одной границей вилки эта граница использовалась как агрегированная </a:t>
            </a:r>
            <a:r>
              <a:rPr lang="ru-RU" sz="11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зарплата</a:t>
            </a: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" name="Google Shape;150;p27">
            <a:extLst>
              <a:ext uri="{FF2B5EF4-FFF2-40B4-BE49-F238E27FC236}">
                <a16:creationId xmlns:a16="http://schemas.microsoft.com/office/drawing/2014/main" id="{B31F84A6-AFC3-4206-A4BC-23617D35C9B7}"/>
              </a:ext>
            </a:extLst>
          </p:cNvPr>
          <p:cNvSpPr/>
          <p:nvPr/>
        </p:nvSpPr>
        <p:spPr>
          <a:xfrm>
            <a:off x="4784227" y="749708"/>
            <a:ext cx="4132457" cy="45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ЗАРПЛАТА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" name="Google Shape;203;p30">
            <a:extLst>
              <a:ext uri="{FF2B5EF4-FFF2-40B4-BE49-F238E27FC236}">
                <a16:creationId xmlns:a16="http://schemas.microsoft.com/office/drawing/2014/main" id="{F0A54651-46C2-491A-AE34-B42D1AE9CF34}"/>
              </a:ext>
            </a:extLst>
          </p:cNvPr>
          <p:cNvSpPr/>
          <p:nvPr/>
        </p:nvSpPr>
        <p:spPr>
          <a:xfrm>
            <a:off x="209963" y="3161232"/>
            <a:ext cx="3880220" cy="1587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Упоминание навыка в вакансии не показывает глубину владения им.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Высокая зарплата вакансий с определенным навыком не доказывает, что именно этот навык является причиной высокой зарплаты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Поиск упоминаний навыков происходил с помощью словесных паттернов </a:t>
            </a:r>
          </a:p>
        </p:txBody>
      </p:sp>
      <p:sp>
        <p:nvSpPr>
          <p:cNvPr id="19" name="Google Shape;150;p27">
            <a:extLst>
              <a:ext uri="{FF2B5EF4-FFF2-40B4-BE49-F238E27FC236}">
                <a16:creationId xmlns:a16="http://schemas.microsoft.com/office/drawing/2014/main" id="{65230B07-324D-49BB-BE41-1EF760360B55}"/>
              </a:ext>
            </a:extLst>
          </p:cNvPr>
          <p:cNvSpPr/>
          <p:nvPr/>
        </p:nvSpPr>
        <p:spPr>
          <a:xfrm>
            <a:off x="148442" y="3008614"/>
            <a:ext cx="3941741" cy="45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НАВЫКИ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0" name="Google Shape;203;p30">
            <a:extLst>
              <a:ext uri="{FF2B5EF4-FFF2-40B4-BE49-F238E27FC236}">
                <a16:creationId xmlns:a16="http://schemas.microsoft.com/office/drawing/2014/main" id="{BA0853AD-AA24-4F1B-8F5C-0D1C6C3FF49D}"/>
              </a:ext>
            </a:extLst>
          </p:cNvPr>
          <p:cNvSpPr/>
          <p:nvPr/>
        </p:nvSpPr>
        <p:spPr>
          <a:xfrm>
            <a:off x="4907268" y="3161232"/>
            <a:ext cx="4006437" cy="1587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05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ML-модель выявляет стат. закономерности, а не причинно-следственные эффекты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Удаление верхних 2% зарплат ограничивает применимость модели для наиболее высокооплачиваемых специалистов.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Модель объясняет 6</a:t>
            </a: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4</a:t>
            </a:r>
            <a:r>
              <a:rPr kumimoji="0" lang="ru-RU" sz="105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% вариаций в целевой переменной</a:t>
            </a:r>
          </a:p>
        </p:txBody>
      </p:sp>
      <p:sp>
        <p:nvSpPr>
          <p:cNvPr id="25" name="Google Shape;150;p27">
            <a:extLst>
              <a:ext uri="{FF2B5EF4-FFF2-40B4-BE49-F238E27FC236}">
                <a16:creationId xmlns:a16="http://schemas.microsoft.com/office/drawing/2014/main" id="{9BA3F2EE-9A84-4202-96D6-48D759A4E55F}"/>
              </a:ext>
            </a:extLst>
          </p:cNvPr>
          <p:cNvSpPr/>
          <p:nvPr/>
        </p:nvSpPr>
        <p:spPr>
          <a:xfrm>
            <a:off x="4845748" y="3008614"/>
            <a:ext cx="4069959" cy="45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МОДЕЛЬ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037157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4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03;p30">
            <a:extLst>
              <a:ext uri="{FF2B5EF4-FFF2-40B4-BE49-F238E27FC236}">
                <a16:creationId xmlns:a16="http://schemas.microsoft.com/office/drawing/2014/main" id="{4661F90B-0A70-4734-9B31-FAA65EC9877A}"/>
              </a:ext>
            </a:extLst>
          </p:cNvPr>
          <p:cNvSpPr/>
          <p:nvPr/>
        </p:nvSpPr>
        <p:spPr>
          <a:xfrm>
            <a:off x="715152" y="1077209"/>
            <a:ext cx="7713695" cy="8239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Собрать данные за несколько периодов (2023–2026 гг.) для отслеживания динамики зарплат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Анализировать сезонность спроса на ИТ-специалистов и влияние макроэкономических факторов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Добавить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hh</a:t>
            </a:r>
            <a:r>
              <a:rPr lang="en-US" sz="12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r>
              <a:rPr lang="en-US" sz="1200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ru</a:t>
            </a:r>
            <a:r>
              <a:rPr lang="en-US" sz="12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как крупнейший источник вакансий (*)</a:t>
            </a:r>
            <a:r>
              <a:rPr lang="ru-RU" sz="12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а также данные </a:t>
            </a:r>
            <a:r>
              <a:rPr lang="ru-RU" sz="1200" dirty="0" err="1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телеграм</a:t>
            </a:r>
            <a:r>
              <a:rPr lang="ru-RU" sz="12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-каналов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5" name="Google Shape;139;p26">
            <a:extLst>
              <a:ext uri="{FF2B5EF4-FFF2-40B4-BE49-F238E27FC236}">
                <a16:creationId xmlns:a16="http://schemas.microsoft.com/office/drawing/2014/main" id="{EA5CD989-5406-4626-940F-DFF5BDE0E6A6}"/>
              </a:ext>
            </a:extLst>
          </p:cNvPr>
          <p:cNvSpPr/>
          <p:nvPr/>
        </p:nvSpPr>
        <p:spPr>
          <a:xfrm>
            <a:off x="257174" y="938197"/>
            <a:ext cx="321034" cy="32103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149;p27">
            <a:extLst>
              <a:ext uri="{FF2B5EF4-FFF2-40B4-BE49-F238E27FC236}">
                <a16:creationId xmlns:a16="http://schemas.microsoft.com/office/drawing/2014/main" id="{FF0229F4-D25C-42AD-AF36-F517A856159A}"/>
              </a:ext>
            </a:extLst>
          </p:cNvPr>
          <p:cNvSpPr txBox="1"/>
          <p:nvPr/>
        </p:nvSpPr>
        <p:spPr>
          <a:xfrm>
            <a:off x="257174" y="203785"/>
            <a:ext cx="8973453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2800" b="1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ДАЛЬНЕЙШЕЕ РАЗВИТИЕ ПРОЕКТА</a:t>
            </a:r>
            <a:endParaRPr kumimoji="0" lang="ru-RU" sz="2800" b="1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" name="Google Shape;150;p27">
            <a:extLst>
              <a:ext uri="{FF2B5EF4-FFF2-40B4-BE49-F238E27FC236}">
                <a16:creationId xmlns:a16="http://schemas.microsoft.com/office/drawing/2014/main" id="{7B782B6D-1CA0-443B-8FB0-A74689B9D091}"/>
              </a:ext>
            </a:extLst>
          </p:cNvPr>
          <p:cNvSpPr/>
          <p:nvPr/>
        </p:nvSpPr>
        <p:spPr>
          <a:xfrm>
            <a:off x="658905" y="938197"/>
            <a:ext cx="7769941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Временной анализ и увеличение выборки</a:t>
            </a:r>
          </a:p>
        </p:txBody>
      </p:sp>
      <p:sp>
        <p:nvSpPr>
          <p:cNvPr id="18" name="Google Shape;203;p30">
            <a:extLst>
              <a:ext uri="{FF2B5EF4-FFF2-40B4-BE49-F238E27FC236}">
                <a16:creationId xmlns:a16="http://schemas.microsoft.com/office/drawing/2014/main" id="{31A1B546-4543-40E8-BAB4-1B35F311CDD3}"/>
              </a:ext>
            </a:extLst>
          </p:cNvPr>
          <p:cNvSpPr/>
          <p:nvPr/>
        </p:nvSpPr>
        <p:spPr>
          <a:xfrm>
            <a:off x="715151" y="2135548"/>
            <a:ext cx="7713695" cy="72906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Парсить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требования к опыту (например, "от 3 лет") и создавать числовой признак 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experience_years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B2C69"/>
              </a:solidFill>
              <a:effectLst/>
              <a:uLnTx/>
              <a:uFillTx/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Проверить гипотезу: опыт в годах сильнее коррелирует с зарплатой, чем формальный грейд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Сравнить модели с грейдом и с опытом как альтернативными предикторами</a:t>
            </a:r>
          </a:p>
        </p:txBody>
      </p:sp>
      <p:sp>
        <p:nvSpPr>
          <p:cNvPr id="20" name="Google Shape;139;p26">
            <a:extLst>
              <a:ext uri="{FF2B5EF4-FFF2-40B4-BE49-F238E27FC236}">
                <a16:creationId xmlns:a16="http://schemas.microsoft.com/office/drawing/2014/main" id="{E4E2CCF1-AD0C-443F-AC3D-976A26DB7AB9}"/>
              </a:ext>
            </a:extLst>
          </p:cNvPr>
          <p:cNvSpPr/>
          <p:nvPr/>
        </p:nvSpPr>
        <p:spPr>
          <a:xfrm>
            <a:off x="257173" y="1945331"/>
            <a:ext cx="321034" cy="32103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2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150;p27">
            <a:extLst>
              <a:ext uri="{FF2B5EF4-FFF2-40B4-BE49-F238E27FC236}">
                <a16:creationId xmlns:a16="http://schemas.microsoft.com/office/drawing/2014/main" id="{6A819D95-8B2A-4CA3-BDFD-9E4FC4942F44}"/>
              </a:ext>
            </a:extLst>
          </p:cNvPr>
          <p:cNvSpPr/>
          <p:nvPr/>
        </p:nvSpPr>
        <p:spPr>
          <a:xfrm>
            <a:off x="658904" y="1945331"/>
            <a:ext cx="7769941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Извлечение опыта работы в годах</a:t>
            </a:r>
          </a:p>
        </p:txBody>
      </p:sp>
      <p:sp>
        <p:nvSpPr>
          <p:cNvPr id="23" name="Google Shape;203;p30">
            <a:extLst>
              <a:ext uri="{FF2B5EF4-FFF2-40B4-BE49-F238E27FC236}">
                <a16:creationId xmlns:a16="http://schemas.microsoft.com/office/drawing/2014/main" id="{00492051-6080-4DFA-B7FE-E8921634561B}"/>
              </a:ext>
            </a:extLst>
          </p:cNvPr>
          <p:cNvSpPr/>
          <p:nvPr/>
        </p:nvSpPr>
        <p:spPr>
          <a:xfrm>
            <a:off x="715152" y="3186554"/>
            <a:ext cx="7713695" cy="6968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Вместо простого поиска совпадений анализировать контекст описания вакансий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Выявлять скрытые паттерны и закономерности : корпоративная культура, сложность задач, технологический стек</a:t>
            </a:r>
          </a:p>
        </p:txBody>
      </p:sp>
      <p:sp>
        <p:nvSpPr>
          <p:cNvPr id="27" name="Google Shape;139;p26">
            <a:extLst>
              <a:ext uri="{FF2B5EF4-FFF2-40B4-BE49-F238E27FC236}">
                <a16:creationId xmlns:a16="http://schemas.microsoft.com/office/drawing/2014/main" id="{8571E435-487F-4895-858A-E375C8115555}"/>
              </a:ext>
            </a:extLst>
          </p:cNvPr>
          <p:cNvSpPr/>
          <p:nvPr/>
        </p:nvSpPr>
        <p:spPr>
          <a:xfrm>
            <a:off x="257174" y="2930498"/>
            <a:ext cx="321034" cy="32103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Arial"/>
                <a:sym typeface="Roboto Condensed"/>
              </a:rPr>
              <a:t>3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150;p27">
            <a:extLst>
              <a:ext uri="{FF2B5EF4-FFF2-40B4-BE49-F238E27FC236}">
                <a16:creationId xmlns:a16="http://schemas.microsoft.com/office/drawing/2014/main" id="{E1ABD357-BDCE-4D0E-8146-0B44E9BA6A44}"/>
              </a:ext>
            </a:extLst>
          </p:cNvPr>
          <p:cNvSpPr/>
          <p:nvPr/>
        </p:nvSpPr>
        <p:spPr>
          <a:xfrm>
            <a:off x="672397" y="2980823"/>
            <a:ext cx="7769941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NLP-</a:t>
            </a: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анализ описаний вакансий</a:t>
            </a:r>
          </a:p>
        </p:txBody>
      </p:sp>
      <p:sp>
        <p:nvSpPr>
          <p:cNvPr id="32" name="Google Shape;203;p30">
            <a:extLst>
              <a:ext uri="{FF2B5EF4-FFF2-40B4-BE49-F238E27FC236}">
                <a16:creationId xmlns:a16="http://schemas.microsoft.com/office/drawing/2014/main" id="{BB1C8EE8-8367-4CD8-872A-58C4C25396CA}"/>
              </a:ext>
            </a:extLst>
          </p:cNvPr>
          <p:cNvSpPr/>
          <p:nvPr/>
        </p:nvSpPr>
        <p:spPr>
          <a:xfrm>
            <a:off x="721328" y="4187541"/>
            <a:ext cx="7713695" cy="69688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2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И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сследовать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, как ценность конкретных навыков меняется в зависимости от отрасли (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финтех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vs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госсектор) и региона и других факторов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200" dirty="0">
                <a:solidFill>
                  <a:srgbClr val="0B2C6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П</a:t>
            </a:r>
            <a:r>
              <a:rPr kumimoji="0" lang="ru-RU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ереход</a:t>
            </a: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от общих рекомендаций к точным, адресным инсайтам для конкретных профессиональных ниш</a:t>
            </a:r>
          </a:p>
        </p:txBody>
      </p:sp>
      <p:sp>
        <p:nvSpPr>
          <p:cNvPr id="33" name="Google Shape;139;p26">
            <a:extLst>
              <a:ext uri="{FF2B5EF4-FFF2-40B4-BE49-F238E27FC236}">
                <a16:creationId xmlns:a16="http://schemas.microsoft.com/office/drawing/2014/main" id="{5CE54479-E878-4E97-8412-C4952DDE2498}"/>
              </a:ext>
            </a:extLst>
          </p:cNvPr>
          <p:cNvSpPr/>
          <p:nvPr/>
        </p:nvSpPr>
        <p:spPr>
          <a:xfrm>
            <a:off x="263350" y="3931485"/>
            <a:ext cx="321034" cy="321034"/>
          </a:xfrm>
          <a:prstGeom prst="ellipse">
            <a:avLst/>
          </a:prstGeom>
          <a:solidFill>
            <a:srgbClr val="0B2C69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" sz="1100" dirty="0">
                <a:solidFill>
                  <a:srgbClr val="FFFFFF"/>
                </a:solidFill>
                <a:latin typeface="Roboto Condensed"/>
                <a:ea typeface="Roboto Condensed"/>
                <a:sym typeface="Roboto Condensed"/>
              </a:rPr>
              <a:t>4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Google Shape;150;p27">
            <a:extLst>
              <a:ext uri="{FF2B5EF4-FFF2-40B4-BE49-F238E27FC236}">
                <a16:creationId xmlns:a16="http://schemas.microsoft.com/office/drawing/2014/main" id="{ECF2DC48-2890-47CA-B529-13DE5793AFE3}"/>
              </a:ext>
            </a:extLst>
          </p:cNvPr>
          <p:cNvSpPr/>
          <p:nvPr/>
        </p:nvSpPr>
        <p:spPr>
          <a:xfrm>
            <a:off x="678573" y="3981810"/>
            <a:ext cx="7769941" cy="27802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solidFill>
              <a:srgbClr val="0B2C69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0B2C69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Сегментный анализ влияния факторов</a:t>
            </a:r>
          </a:p>
        </p:txBody>
      </p:sp>
    </p:spTree>
    <p:extLst>
      <p:ext uri="{BB962C8B-B14F-4D97-AF65-F5344CB8AC3E}">
        <p14:creationId xmlns:p14="http://schemas.microsoft.com/office/powerpoint/2010/main" val="70930821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HeadHunter_new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D6001C"/>
    </a:accent1>
    <a:accent2>
      <a:srgbClr val="0083CA"/>
    </a:accent2>
    <a:accent3>
      <a:srgbClr val="6F4AB3"/>
    </a:accent3>
    <a:accent4>
      <a:srgbClr val="F27B2A"/>
    </a:accent4>
    <a:accent5>
      <a:srgbClr val="7F181B"/>
    </a:accent5>
    <a:accent6>
      <a:srgbClr val="C1D82F"/>
    </a:accent6>
    <a:hlink>
      <a:srgbClr val="00B0F0"/>
    </a:hlink>
    <a:folHlink>
      <a:srgbClr val="6F4AB3"/>
    </a:folHlink>
  </a:clrScheme>
  <a:fontScheme name="PNC">
    <a:majorFont>
      <a:latin typeface="Proxima Nova Cn Rg"/>
      <a:ea typeface=""/>
      <a:cs typeface=""/>
    </a:majorFont>
    <a:minorFont>
      <a:latin typeface="Proxima Nova Cn Rg"/>
      <a:ea typeface=""/>
      <a:cs typeface="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1842</Words>
  <Application>Microsoft Office PowerPoint</Application>
  <PresentationFormat>Экран (16:9)</PresentationFormat>
  <Paragraphs>311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Play</vt:lpstr>
      <vt:lpstr>Roboto Condensed</vt:lpstr>
      <vt:lpstr>YS Text</vt:lpstr>
      <vt:lpstr>Simple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Швец Анна</dc:creator>
  <cp:lastModifiedBy>Швец Анна</cp:lastModifiedBy>
  <cp:revision>59</cp:revision>
  <dcterms:modified xsi:type="dcterms:W3CDTF">2026-10-17T00:17:47Z</dcterms:modified>
</cp:coreProperties>
</file>